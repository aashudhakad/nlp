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360C9A-C894-418A-92A2-96B242527156}">
  <a:tblStyle styleId="{14360C9A-C894-418A-92A2-96B242527156}"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ab21d1aff_0_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3bab21d1aff_0_2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3bab21d1aff_0_2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ab21d1aff_0_1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bab21d1aff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ab21d1aff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bab21d1aff_0_3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bab21d1aff_0_6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3bab21d1aff_0_6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ab21d1aff_0_6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bab21d1aff_0_6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8c8e67fb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b8c8e67fb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ab21d1aff_0_4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bab21d1aff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ab21d1aff_0_5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bab21d1aff_0_5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685800" y="1597820"/>
            <a:ext cx="7772400" cy="1102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371600" y="2914650"/>
            <a:ext cx="6400800" cy="1314600"/>
          </a:xfrm>
          <a:prstGeom prst="rect">
            <a:avLst/>
          </a:prstGeom>
          <a:noFill/>
          <a:ln>
            <a:noFill/>
          </a:ln>
        </p:spPr>
        <p:txBody>
          <a:bodyPr spcFirstLastPara="1" wrap="square" lIns="68575" tIns="34275" rIns="68575" bIns="34275" anchor="t" anchorCtr="0">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59" name="Google Shape;59;p14"/>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457200" y="1200151"/>
            <a:ext cx="8229600" cy="33945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722313" y="3305176"/>
            <a:ext cx="7772400" cy="1021500"/>
          </a:xfrm>
          <a:prstGeom prst="rect">
            <a:avLst/>
          </a:prstGeom>
          <a:noFill/>
          <a:ln>
            <a:noFill/>
          </a:ln>
        </p:spPr>
        <p:txBody>
          <a:bodyPr spcFirstLastPara="1" wrap="square" lIns="68575" tIns="34275" rIns="68575" bIns="34275"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722313" y="2180035"/>
            <a:ext cx="7772400" cy="1125300"/>
          </a:xfrm>
          <a:prstGeom prst="rect">
            <a:avLst/>
          </a:prstGeom>
          <a:noFill/>
          <a:ln>
            <a:noFill/>
          </a:ln>
        </p:spPr>
        <p:txBody>
          <a:bodyPr spcFirstLastPara="1" wrap="square" lIns="68575" tIns="34275" rIns="68575" bIns="34275"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300"/>
              </a:spcBef>
              <a:spcAft>
                <a:spcPts val="0"/>
              </a:spcAft>
              <a:buClr>
                <a:srgbClr val="888888"/>
              </a:buClr>
              <a:buSzPts val="1400"/>
              <a:buNone/>
              <a:defRPr sz="1400">
                <a:solidFill>
                  <a:srgbClr val="888888"/>
                </a:solidFill>
              </a:defRPr>
            </a:lvl2pPr>
            <a:lvl3pPr marL="1371600" lvl="2" indent="-228600" algn="l">
              <a:spcBef>
                <a:spcPts val="200"/>
              </a:spcBef>
              <a:spcAft>
                <a:spcPts val="0"/>
              </a:spcAft>
              <a:buClr>
                <a:srgbClr val="888888"/>
              </a:buClr>
              <a:buSzPts val="1200"/>
              <a:buNone/>
              <a:defRPr sz="1200">
                <a:solidFill>
                  <a:srgbClr val="888888"/>
                </a:solidFill>
              </a:defRPr>
            </a:lvl3pPr>
            <a:lvl4pPr marL="1828800" lvl="3" indent="-228600" algn="l">
              <a:spcBef>
                <a:spcPts val="200"/>
              </a:spcBef>
              <a:spcAft>
                <a:spcPts val="0"/>
              </a:spcAft>
              <a:buClr>
                <a:srgbClr val="888888"/>
              </a:buClr>
              <a:buSzPts val="1100"/>
              <a:buNone/>
              <a:defRPr sz="1100">
                <a:solidFill>
                  <a:srgbClr val="888888"/>
                </a:solidFill>
              </a:defRPr>
            </a:lvl4pPr>
            <a:lvl5pPr marL="2286000" lvl="4" indent="-228600" algn="l">
              <a:spcBef>
                <a:spcPts val="2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71" name="Google Shape;71;p16"/>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457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77" name="Google Shape;77;p17"/>
          <p:cNvSpPr txBox="1">
            <a:spLocks noGrp="1"/>
          </p:cNvSpPr>
          <p:nvPr>
            <p:ph type="body" idx="2"/>
          </p:nvPr>
        </p:nvSpPr>
        <p:spPr>
          <a:xfrm>
            <a:off x="4648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78" name="Google Shape;78;p17"/>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457200" y="1151335"/>
            <a:ext cx="4040100" cy="4800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457200" y="1631156"/>
            <a:ext cx="40401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5" name="Google Shape;85;p18"/>
          <p:cNvSpPr txBox="1">
            <a:spLocks noGrp="1"/>
          </p:cNvSpPr>
          <p:nvPr>
            <p:ph type="body" idx="3"/>
          </p:nvPr>
        </p:nvSpPr>
        <p:spPr>
          <a:xfrm>
            <a:off x="4645026" y="1151335"/>
            <a:ext cx="4041600" cy="4800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45026" y="1631156"/>
            <a:ext cx="40416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7" name="Google Shape;87;p18"/>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1" y="204788"/>
            <a:ext cx="3008400" cy="8718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575050" y="204788"/>
            <a:ext cx="5111700" cy="4389900"/>
          </a:xfrm>
          <a:prstGeom prst="rect">
            <a:avLst/>
          </a:prstGeom>
          <a:noFill/>
          <a:ln>
            <a:noFill/>
          </a:ln>
        </p:spPr>
        <p:txBody>
          <a:bodyPr spcFirstLastPara="1" wrap="square" lIns="68575" tIns="34275" rIns="68575" bIns="34275" anchor="t" anchorCtr="0">
            <a:normAutofit/>
          </a:bodyPr>
          <a:lstStyle>
            <a:lvl1pPr marL="457200" lvl="0" indent="-381000" algn="l">
              <a:spcBef>
                <a:spcPts val="500"/>
              </a:spcBef>
              <a:spcAft>
                <a:spcPts val="0"/>
              </a:spcAft>
              <a:buClr>
                <a:schemeClr val="dk1"/>
              </a:buClr>
              <a:buSzPts val="2400"/>
              <a:buChar char="•"/>
              <a:defRPr sz="2400"/>
            </a:lvl1pPr>
            <a:lvl2pPr marL="914400" lvl="1" indent="-361950" algn="l">
              <a:spcBef>
                <a:spcPts val="400"/>
              </a:spcBef>
              <a:spcAft>
                <a:spcPts val="0"/>
              </a:spcAft>
              <a:buClr>
                <a:schemeClr val="dk1"/>
              </a:buClr>
              <a:buSzPts val="2100"/>
              <a:buChar char="–"/>
              <a:defRPr sz="2100"/>
            </a:lvl2pPr>
            <a:lvl3pPr marL="1371600" lvl="2" indent="-342900" algn="l">
              <a:spcBef>
                <a:spcPts val="40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457201" y="1076326"/>
            <a:ext cx="3008400" cy="35184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03" name="Google Shape;103;p21"/>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3600450"/>
            <a:ext cx="5486400" cy="4251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1792288" y="459581"/>
            <a:ext cx="5486400" cy="3086100"/>
          </a:xfrm>
          <a:prstGeom prst="rect">
            <a:avLst/>
          </a:prstGeom>
          <a:noFill/>
          <a:ln>
            <a:noFill/>
          </a:ln>
        </p:spPr>
      </p:sp>
      <p:sp>
        <p:nvSpPr>
          <p:cNvPr id="109" name="Google Shape;109;p22"/>
          <p:cNvSpPr txBox="1">
            <a:spLocks noGrp="1"/>
          </p:cNvSpPr>
          <p:nvPr>
            <p:ph type="body" idx="1"/>
          </p:nvPr>
        </p:nvSpPr>
        <p:spPr>
          <a:xfrm>
            <a:off x="1792288" y="4025504"/>
            <a:ext cx="5486400" cy="6036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10" name="Google Shape;110;p22"/>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874750" y="-1217399"/>
            <a:ext cx="3394500" cy="82296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463750" y="1371629"/>
            <a:ext cx="4388700" cy="20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272750" y="-609571"/>
            <a:ext cx="4388700" cy="60198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marR="0" lvl="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457200" y="1200151"/>
            <a:ext cx="8229600" cy="3394500"/>
          </a:xfrm>
          <a:prstGeom prst="rect">
            <a:avLst/>
          </a:prstGeom>
          <a:noFill/>
          <a:ln>
            <a:noFill/>
          </a:ln>
        </p:spPr>
        <p:txBody>
          <a:bodyPr spcFirstLastPara="1" wrap="square" lIns="68575" tIns="34275" rIns="68575" bIns="34275" anchor="t" anchorCtr="0">
            <a:normAutofit/>
          </a:bodyPr>
          <a:lstStyle>
            <a:lvl1pPr marL="457200" marR="0" lvl="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5"/>
          <p:cNvPicPr preferRelativeResize="0"/>
          <p:nvPr/>
        </p:nvPicPr>
        <p:blipFill rotWithShape="1">
          <a:blip r:embed="rId3">
            <a:alphaModFix/>
          </a:blip>
          <a:srcRect/>
          <a:stretch/>
        </p:blipFill>
        <p:spPr>
          <a:xfrm>
            <a:off x="32101" y="17943"/>
            <a:ext cx="651467" cy="918102"/>
          </a:xfrm>
          <a:prstGeom prst="rect">
            <a:avLst/>
          </a:prstGeom>
          <a:noFill/>
          <a:ln>
            <a:noFill/>
          </a:ln>
        </p:spPr>
      </p:pic>
      <p:sp>
        <p:nvSpPr>
          <p:cNvPr id="131" name="Google Shape;131;p25"/>
          <p:cNvSpPr txBox="1"/>
          <p:nvPr/>
        </p:nvSpPr>
        <p:spPr>
          <a:xfrm>
            <a:off x="783811" y="9856"/>
            <a:ext cx="7772100" cy="888600"/>
          </a:xfrm>
          <a:prstGeom prst="rect">
            <a:avLst/>
          </a:prstGeom>
          <a:noFill/>
          <a:ln>
            <a:noFill/>
          </a:ln>
        </p:spPr>
        <p:txBody>
          <a:bodyPr spcFirstLastPara="1" wrap="square" lIns="68575" tIns="34275" rIns="68575" bIns="34275" anchor="ctr" anchorCtr="0">
            <a:normAutofit/>
          </a:bodyPr>
          <a:lstStyle/>
          <a:p>
            <a:pPr marL="0" marR="0" lvl="0" indent="0" algn="ctr" rtl="0">
              <a:lnSpc>
                <a:spcPct val="118750"/>
              </a:lnSpc>
              <a:spcBef>
                <a:spcPts val="0"/>
              </a:spcBef>
              <a:spcAft>
                <a:spcPts val="0"/>
              </a:spcAft>
              <a:buClr>
                <a:schemeClr val="dk1"/>
              </a:buClr>
              <a:buSzPts val="1700"/>
              <a:buFont typeface="Arial"/>
              <a:buNone/>
            </a:pPr>
            <a:r>
              <a:rPr lang="en" sz="1700" b="0" i="0" u="none" strike="noStrike" cap="none">
                <a:solidFill>
                  <a:schemeClr val="dk1"/>
                </a:solidFill>
                <a:latin typeface="Amasis MT Pro" panose="02040504050005020304" pitchFamily="18" charset="0"/>
                <a:sym typeface="Arial"/>
              </a:rPr>
              <a:t>Atal Bihari Vajpayee</a:t>
            </a:r>
            <a:r>
              <a:rPr lang="en" sz="1700" b="1" i="0" u="none" strike="noStrike" cap="none">
                <a:solidFill>
                  <a:srgbClr val="002060"/>
                </a:solidFill>
                <a:latin typeface="Amasis MT Pro" panose="02040504050005020304" pitchFamily="18" charset="0"/>
                <a:sym typeface="Arial"/>
              </a:rPr>
              <a:t>- </a:t>
            </a:r>
            <a:r>
              <a:rPr lang="en" sz="1700" b="0" i="0" u="none" strike="noStrike" cap="none">
                <a:solidFill>
                  <a:srgbClr val="002060"/>
                </a:solidFill>
                <a:latin typeface="Amasis MT Pro" panose="02040504050005020304" pitchFamily="18" charset="0"/>
                <a:sym typeface="Arial"/>
              </a:rPr>
              <a:t>Indian Institute of Information Technology and Management Gwalior</a:t>
            </a:r>
            <a:endParaRPr sz="1700" b="0" i="0" u="none" strike="noStrike" cap="none">
              <a:solidFill>
                <a:srgbClr val="002060"/>
              </a:solidFill>
              <a:latin typeface="Amasis MT Pro" panose="02040504050005020304" pitchFamily="18" charset="0"/>
              <a:sym typeface="Arial"/>
            </a:endParaRPr>
          </a:p>
        </p:txBody>
      </p:sp>
      <p:sp>
        <p:nvSpPr>
          <p:cNvPr id="132" name="Google Shape;132;p25"/>
          <p:cNvSpPr txBox="1"/>
          <p:nvPr/>
        </p:nvSpPr>
        <p:spPr>
          <a:xfrm>
            <a:off x="1026522" y="2955270"/>
            <a:ext cx="6605700" cy="678600"/>
          </a:xfrm>
          <a:prstGeom prst="rect">
            <a:avLst/>
          </a:prstGeom>
          <a:noFill/>
          <a:ln>
            <a:noFill/>
          </a:ln>
        </p:spPr>
        <p:txBody>
          <a:bodyPr spcFirstLastPara="1" wrap="square" lIns="68575" tIns="34275" rIns="68575" bIns="34275" anchor="ctr" anchorCtr="0">
            <a:normAutofit/>
          </a:bodyPr>
          <a:lstStyle/>
          <a:p>
            <a:pPr marL="0" marR="0" lvl="0" indent="0" algn="ctr" rtl="0">
              <a:lnSpc>
                <a:spcPct val="100000"/>
              </a:lnSpc>
              <a:spcBef>
                <a:spcPts val="0"/>
              </a:spcBef>
              <a:spcAft>
                <a:spcPts val="0"/>
              </a:spcAft>
              <a:buClr>
                <a:srgbClr val="002060"/>
              </a:buClr>
              <a:buSzPts val="1500"/>
              <a:buFont typeface="Arial"/>
              <a:buNone/>
            </a:pPr>
            <a:r>
              <a:rPr lang="en" sz="1500" b="1" i="0" u="none" strike="noStrike" cap="none" dirty="0">
                <a:solidFill>
                  <a:srgbClr val="002060"/>
                </a:solidFill>
                <a:latin typeface="Amasis MT Pro" panose="02040504050005020304" pitchFamily="18" charset="0"/>
                <a:sym typeface="Arial"/>
              </a:rPr>
              <a:t>Instructor – Dr. Sunil Kumar</a:t>
            </a:r>
            <a:endParaRPr sz="1500" b="0" i="0" u="none" strike="noStrike" cap="none" dirty="0">
              <a:solidFill>
                <a:srgbClr val="000000"/>
              </a:solidFill>
              <a:latin typeface="Amasis MT Pro" panose="02040504050005020304" pitchFamily="18" charset="0"/>
              <a:sym typeface="Arial"/>
            </a:endParaRPr>
          </a:p>
          <a:p>
            <a:pPr marL="0" marR="0" lvl="0" indent="0" algn="ctr" rtl="0">
              <a:lnSpc>
                <a:spcPct val="100000"/>
              </a:lnSpc>
              <a:spcBef>
                <a:spcPts val="0"/>
              </a:spcBef>
              <a:spcAft>
                <a:spcPts val="0"/>
              </a:spcAft>
              <a:buClr>
                <a:srgbClr val="002060"/>
              </a:buClr>
              <a:buSzPts val="1500"/>
              <a:buFont typeface="Arial"/>
              <a:buNone/>
            </a:pPr>
            <a:r>
              <a:rPr lang="en" sz="1500" b="0" i="0" u="none" strike="noStrike" cap="none" dirty="0">
                <a:solidFill>
                  <a:srgbClr val="002060"/>
                </a:solidFill>
                <a:latin typeface="Amasis MT Pro" panose="02040504050005020304" pitchFamily="18" charset="0"/>
                <a:sym typeface="Arial"/>
              </a:rPr>
              <a:t>Assistant Professor @ Dept. of Information Technology, ABV-IIITM Gwalior</a:t>
            </a:r>
            <a:endParaRPr sz="1500" b="0" i="0" u="none" strike="noStrike" cap="none" dirty="0">
              <a:solidFill>
                <a:srgbClr val="000000"/>
              </a:solidFill>
              <a:latin typeface="Amasis MT Pro" panose="02040504050005020304" pitchFamily="18" charset="0"/>
              <a:sym typeface="Arial"/>
            </a:endParaRPr>
          </a:p>
        </p:txBody>
      </p:sp>
      <p:sp>
        <p:nvSpPr>
          <p:cNvPr id="133" name="Google Shape;133;p25"/>
          <p:cNvSpPr txBox="1"/>
          <p:nvPr/>
        </p:nvSpPr>
        <p:spPr>
          <a:xfrm>
            <a:off x="2503274" y="1395517"/>
            <a:ext cx="3912300" cy="438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dirty="0">
                <a:solidFill>
                  <a:srgbClr val="FF0000"/>
                </a:solidFill>
                <a:latin typeface="Amasis MT Pro" panose="02040504050005020304" pitchFamily="18" charset="0"/>
                <a:sym typeface="Arial"/>
              </a:rPr>
              <a:t>NLP Lab : 02  </a:t>
            </a:r>
            <a:endParaRPr sz="1100" b="0" i="0" u="none" strike="noStrike" cap="none" dirty="0">
              <a:solidFill>
                <a:srgbClr val="000000"/>
              </a:solidFill>
              <a:latin typeface="Amasis MT Pro" panose="02040504050005020304" pitchFamily="18" charset="0"/>
              <a:sym typeface="Arial"/>
            </a:endParaRPr>
          </a:p>
        </p:txBody>
      </p:sp>
      <p:sp>
        <p:nvSpPr>
          <p:cNvPr id="134" name="Google Shape;134;p25"/>
          <p:cNvSpPr txBox="1"/>
          <p:nvPr/>
        </p:nvSpPr>
        <p:spPr>
          <a:xfrm>
            <a:off x="275882" y="1785580"/>
            <a:ext cx="8106900" cy="779700"/>
          </a:xfrm>
          <a:prstGeom prst="rect">
            <a:avLst/>
          </a:prstGeom>
          <a:noFill/>
          <a:ln>
            <a:noFill/>
          </a:ln>
        </p:spPr>
        <p:txBody>
          <a:bodyPr spcFirstLastPara="1" wrap="square" lIns="68575" tIns="34275" rIns="68575" bIns="34275" anchor="ctr" anchorCtr="0">
            <a:noAutofit/>
          </a:bodyPr>
          <a:lstStyle/>
          <a:p>
            <a:pPr marL="0" marR="0" lvl="0" indent="0" algn="ctr" rtl="0">
              <a:lnSpc>
                <a:spcPct val="115000"/>
              </a:lnSpc>
              <a:spcBef>
                <a:spcPts val="900"/>
              </a:spcBef>
              <a:spcAft>
                <a:spcPts val="0"/>
              </a:spcAft>
              <a:buClr>
                <a:schemeClr val="dk1"/>
              </a:buClr>
              <a:buSzPts val="800"/>
              <a:buFont typeface="Arial"/>
              <a:buNone/>
            </a:pPr>
            <a:r>
              <a:rPr lang="en" sz="1800" b="1">
                <a:solidFill>
                  <a:schemeClr val="dk1"/>
                </a:solidFill>
                <a:latin typeface="Amasis MT Pro" panose="02040504050005020304" pitchFamily="18" charset="0"/>
              </a:rPr>
              <a:t>Fundamentals of Text Processing </a:t>
            </a:r>
            <a:endParaRPr sz="1800" b="1" i="0" u="none" strike="noStrike" cap="none">
              <a:solidFill>
                <a:schemeClr val="dk1"/>
              </a:solidFill>
              <a:latin typeface="Amasis MT Pro" panose="02040504050005020304" pitchFamily="18" charset="0"/>
              <a:sym typeface="Arial"/>
            </a:endParaRPr>
          </a:p>
        </p:txBody>
      </p:sp>
      <p:graphicFrame>
        <p:nvGraphicFramePr>
          <p:cNvPr id="135" name="Google Shape;135;p25"/>
          <p:cNvGraphicFramePr/>
          <p:nvPr>
            <p:extLst>
              <p:ext uri="{D42A27DB-BD31-4B8C-83A1-F6EECF244321}">
                <p14:modId xmlns:p14="http://schemas.microsoft.com/office/powerpoint/2010/main" val="1950633263"/>
              </p:ext>
            </p:extLst>
          </p:nvPr>
        </p:nvGraphicFramePr>
        <p:xfrm>
          <a:off x="829655" y="3991059"/>
          <a:ext cx="7351275" cy="845880"/>
        </p:xfrm>
        <a:graphic>
          <a:graphicData uri="http://schemas.openxmlformats.org/drawingml/2006/table">
            <a:tbl>
              <a:tblPr firstRow="1" bandRow="1">
                <a:noFill/>
                <a:tableStyleId>{14360C9A-C894-418A-92A2-96B242527156}</a:tableStyleId>
              </a:tblPr>
              <a:tblGrid>
                <a:gridCol w="2246275">
                  <a:extLst>
                    <a:ext uri="{9D8B030D-6E8A-4147-A177-3AD203B41FA5}">
                      <a16:colId xmlns:a16="http://schemas.microsoft.com/office/drawing/2014/main" val="20000"/>
                    </a:ext>
                  </a:extLst>
                </a:gridCol>
                <a:gridCol w="3109850">
                  <a:extLst>
                    <a:ext uri="{9D8B030D-6E8A-4147-A177-3AD203B41FA5}">
                      <a16:colId xmlns:a16="http://schemas.microsoft.com/office/drawing/2014/main" val="20001"/>
                    </a:ext>
                  </a:extLst>
                </a:gridCol>
                <a:gridCol w="1995150">
                  <a:extLst>
                    <a:ext uri="{9D8B030D-6E8A-4147-A177-3AD203B41FA5}">
                      <a16:colId xmlns:a16="http://schemas.microsoft.com/office/drawing/2014/main" val="20002"/>
                    </a:ext>
                  </a:extLst>
                </a:gridCol>
              </a:tblGrid>
              <a:tr h="2781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solidFill>
                            <a:srgbClr val="0C0C0C"/>
                          </a:solidFill>
                          <a:latin typeface="Amasis MT Pro" panose="02040504050005020304" pitchFamily="18" charset="0"/>
                          <a:ea typeface="Arial"/>
                          <a:cs typeface="Arial"/>
                          <a:sym typeface="Arial"/>
                        </a:rPr>
                        <a:t>Meher (PhD Scholar)</a:t>
                      </a:r>
                      <a:endParaRPr sz="1400" u="none" strike="noStrike" cap="none" dirty="0">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Sheel Patel &amp; Radhika [M.Tech IT]</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Group-01</a:t>
                      </a:r>
                      <a:endParaRPr sz="1100" u="none" strike="noStrike" cap="none">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0"/>
                  </a:ext>
                </a:extLst>
              </a:tr>
              <a:tr h="2781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0C0C0C"/>
                          </a:solidFill>
                          <a:latin typeface="Amasis MT Pro" panose="02040504050005020304" pitchFamily="18" charset="0"/>
                          <a:ea typeface="Arial"/>
                          <a:cs typeface="Arial"/>
                          <a:sym typeface="Arial"/>
                        </a:rPr>
                        <a:t>Shalmon Titre (MTech)</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0C0C0C"/>
                          </a:solidFill>
                          <a:latin typeface="Amasis MT Pro" panose="02040504050005020304" pitchFamily="18" charset="0"/>
                          <a:ea typeface="Arial"/>
                          <a:cs typeface="Arial"/>
                          <a:sym typeface="Arial"/>
                        </a:rPr>
                        <a:t>Lokesh Jain (MTech) </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Group-02</a:t>
                      </a:r>
                      <a:endParaRPr sz="1100" u="none" strike="noStrike" cap="none">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1"/>
                  </a:ext>
                </a:extLst>
              </a:tr>
              <a:tr h="278150">
                <a:tc>
                  <a:txBody>
                    <a:bodyPr/>
                    <a:lstStyle/>
                    <a:p>
                      <a:pPr marL="0" marR="0" lvl="0" indent="0" algn="l" rtl="0">
                        <a:lnSpc>
                          <a:spcPct val="100000"/>
                        </a:lnSpc>
                        <a:spcBef>
                          <a:spcPts val="0"/>
                        </a:spcBef>
                        <a:spcAft>
                          <a:spcPts val="0"/>
                        </a:spcAft>
                        <a:buClr>
                          <a:srgbClr val="0C0C0C"/>
                        </a:buClr>
                        <a:buSzPts val="1400"/>
                        <a:buFont typeface="Arial"/>
                        <a:buNone/>
                      </a:pP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dirty="0">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2"/>
                  </a:ext>
                </a:extLst>
              </a:tr>
            </a:tbl>
          </a:graphicData>
        </a:graphic>
      </p:graphicFrame>
      <p:sp>
        <p:nvSpPr>
          <p:cNvPr id="136" name="Google Shape;136;p25"/>
          <p:cNvSpPr txBox="1"/>
          <p:nvPr/>
        </p:nvSpPr>
        <p:spPr>
          <a:xfrm>
            <a:off x="3105675" y="3633870"/>
            <a:ext cx="29328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Amasis MT Pro" panose="02040504050005020304" pitchFamily="18" charset="0"/>
                <a:sym typeface="Arial"/>
              </a:rPr>
              <a:t>Teaching Assistants (TAs)</a:t>
            </a:r>
            <a:endParaRPr sz="1100" b="0" i="0" u="none" strike="noStrike" cap="none">
              <a:solidFill>
                <a:srgbClr val="000000"/>
              </a:solidFill>
              <a:latin typeface="Amasis MT Pro" panose="020405040500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251520" y="24140"/>
            <a:ext cx="8235900" cy="8091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SzPts val="4100"/>
              <a:buFont typeface="Arial"/>
              <a:buNone/>
            </a:pPr>
            <a:r>
              <a:rPr lang="en" sz="3000">
                <a:latin typeface="Amasis MT Pro" panose="02040504050005020304" pitchFamily="18" charset="0"/>
                <a:ea typeface="Arial"/>
                <a:cs typeface="Arial"/>
                <a:sym typeface="Arial"/>
              </a:rPr>
              <a:t>Objectives</a:t>
            </a:r>
            <a:endParaRPr sz="3000">
              <a:latin typeface="Amasis MT Pro" panose="02040504050005020304" pitchFamily="18" charset="0"/>
              <a:ea typeface="Arial"/>
              <a:cs typeface="Arial"/>
              <a:sym typeface="Arial"/>
            </a:endParaRPr>
          </a:p>
        </p:txBody>
      </p:sp>
      <p:sp>
        <p:nvSpPr>
          <p:cNvPr id="142" name="Google Shape;142;p26"/>
          <p:cNvSpPr txBox="1"/>
          <p:nvPr/>
        </p:nvSpPr>
        <p:spPr>
          <a:xfrm>
            <a:off x="586725" y="1101744"/>
            <a:ext cx="7806600" cy="2940000"/>
          </a:xfrm>
          <a:prstGeom prst="rect">
            <a:avLst/>
          </a:prstGeom>
          <a:noFill/>
          <a:ln>
            <a:noFill/>
          </a:ln>
        </p:spPr>
        <p:txBody>
          <a:bodyPr spcFirstLastPara="1" wrap="square" lIns="68575" tIns="68575" rIns="68575" bIns="68575" anchor="t" anchorCtr="0">
            <a:spAutoFit/>
          </a:bodyPr>
          <a:lstStyle/>
          <a:p>
            <a:pPr marL="457200" lvl="0" indent="-317500" rtl="0">
              <a:spcBef>
                <a:spcPts val="0"/>
              </a:spcBef>
              <a:spcAft>
                <a:spcPts val="0"/>
              </a:spcAft>
              <a:buClr>
                <a:schemeClr val="dk1"/>
              </a:buClr>
              <a:buSzPts val="1400"/>
              <a:buChar char="●"/>
            </a:pPr>
            <a:r>
              <a:rPr lang="en" dirty="0">
                <a:solidFill>
                  <a:schemeClr val="dk1"/>
                </a:solidFill>
                <a:latin typeface="Amasis MT Pro" panose="02040504050005020304" pitchFamily="18" charset="0"/>
              </a:rPr>
              <a:t>To perform </a:t>
            </a:r>
            <a:r>
              <a:rPr lang="en" b="1" dirty="0">
                <a:solidFill>
                  <a:schemeClr val="dk1"/>
                </a:solidFill>
                <a:latin typeface="Amasis MT Pro" panose="02040504050005020304" pitchFamily="18" charset="0"/>
              </a:rPr>
              <a:t>sentence and word tokenization</a:t>
            </a:r>
            <a:r>
              <a:rPr lang="en" dirty="0">
                <a:solidFill>
                  <a:schemeClr val="dk1"/>
                </a:solidFill>
                <a:latin typeface="Amasis MT Pro" panose="02040504050005020304" pitchFamily="18" charset="0"/>
              </a:rPr>
              <a:t> on a given text corpus using Natural Language Toolkit.</a:t>
            </a:r>
            <a:br>
              <a:rPr lang="en" dirty="0">
                <a:solidFill>
                  <a:schemeClr val="dk1"/>
                </a:solidFill>
                <a:latin typeface="Amasis MT Pro" panose="02040504050005020304" pitchFamily="18" charset="0"/>
              </a:rPr>
            </a:br>
            <a:endParaRPr dirty="0">
              <a:solidFill>
                <a:schemeClr val="dk1"/>
              </a:solidFill>
              <a:latin typeface="Amasis MT Pro" panose="02040504050005020304" pitchFamily="18" charset="0"/>
            </a:endParaRPr>
          </a:p>
          <a:p>
            <a:pPr marL="457200" lvl="0" indent="-317500" rtl="0">
              <a:spcBef>
                <a:spcPts val="0"/>
              </a:spcBef>
              <a:spcAft>
                <a:spcPts val="0"/>
              </a:spcAft>
              <a:buClr>
                <a:schemeClr val="dk1"/>
              </a:buClr>
              <a:buSzPts val="1400"/>
              <a:buChar char="●"/>
            </a:pPr>
            <a:r>
              <a:rPr lang="en" dirty="0">
                <a:solidFill>
                  <a:schemeClr val="dk1"/>
                </a:solidFill>
                <a:latin typeface="Amasis MT Pro" panose="02040504050005020304" pitchFamily="18" charset="0"/>
              </a:rPr>
              <a:t>To apply </a:t>
            </a:r>
            <a:r>
              <a:rPr lang="en" b="1" dirty="0">
                <a:solidFill>
                  <a:schemeClr val="dk1"/>
                </a:solidFill>
                <a:latin typeface="Amasis MT Pro" panose="02040504050005020304" pitchFamily="18" charset="0"/>
              </a:rPr>
              <a:t>text preprocessing techniques</a:t>
            </a:r>
            <a:r>
              <a:rPr lang="en" dirty="0">
                <a:solidFill>
                  <a:schemeClr val="dk1"/>
                </a:solidFill>
                <a:latin typeface="Amasis MT Pro" panose="02040504050005020304" pitchFamily="18" charset="0"/>
              </a:rPr>
              <a:t> such as lowercasing, punctuation removal, and stopword elimination for cleaning textual data.</a:t>
            </a:r>
            <a:br>
              <a:rPr lang="en" dirty="0">
                <a:solidFill>
                  <a:schemeClr val="dk1"/>
                </a:solidFill>
                <a:latin typeface="Amasis MT Pro" panose="02040504050005020304" pitchFamily="18" charset="0"/>
              </a:rPr>
            </a:br>
            <a:endParaRPr dirty="0">
              <a:solidFill>
                <a:schemeClr val="dk1"/>
              </a:solidFill>
              <a:latin typeface="Amasis MT Pro" panose="02040504050005020304" pitchFamily="18" charset="0"/>
            </a:endParaRPr>
          </a:p>
          <a:p>
            <a:pPr marL="457200" lvl="0" indent="-317500" rtl="0">
              <a:spcBef>
                <a:spcPts val="0"/>
              </a:spcBef>
              <a:spcAft>
                <a:spcPts val="0"/>
              </a:spcAft>
              <a:buClr>
                <a:schemeClr val="dk1"/>
              </a:buClr>
              <a:buSzPts val="1400"/>
              <a:buChar char="●"/>
            </a:pPr>
            <a:r>
              <a:rPr lang="en" dirty="0">
                <a:solidFill>
                  <a:schemeClr val="dk1"/>
                </a:solidFill>
                <a:latin typeface="Amasis MT Pro" panose="02040504050005020304" pitchFamily="18" charset="0"/>
              </a:rPr>
              <a:t>To analyze text by computing </a:t>
            </a:r>
            <a:r>
              <a:rPr lang="en" b="1" dirty="0">
                <a:solidFill>
                  <a:schemeClr val="dk1"/>
                </a:solidFill>
                <a:latin typeface="Amasis MT Pro" panose="02040504050005020304" pitchFamily="18" charset="0"/>
              </a:rPr>
              <a:t>word frequency distribution</a:t>
            </a:r>
            <a:r>
              <a:rPr lang="en" dirty="0">
                <a:solidFill>
                  <a:schemeClr val="dk1"/>
                </a:solidFill>
                <a:latin typeface="Amasis MT Pro" panose="02040504050005020304" pitchFamily="18" charset="0"/>
              </a:rPr>
              <a:t> and identifying the most frequent terms.</a:t>
            </a:r>
            <a:br>
              <a:rPr lang="en" dirty="0">
                <a:solidFill>
                  <a:schemeClr val="dk1"/>
                </a:solidFill>
                <a:latin typeface="Amasis MT Pro" panose="02040504050005020304" pitchFamily="18" charset="0"/>
              </a:rPr>
            </a:br>
            <a:endParaRPr dirty="0">
              <a:solidFill>
                <a:schemeClr val="dk1"/>
              </a:solidFill>
              <a:latin typeface="Amasis MT Pro" panose="02040504050005020304" pitchFamily="18" charset="0"/>
            </a:endParaRPr>
          </a:p>
          <a:p>
            <a:pPr marL="457200" lvl="0" indent="-317500" rtl="0">
              <a:spcBef>
                <a:spcPts val="0"/>
              </a:spcBef>
              <a:spcAft>
                <a:spcPts val="0"/>
              </a:spcAft>
              <a:buClr>
                <a:schemeClr val="dk1"/>
              </a:buClr>
              <a:buSzPts val="1400"/>
              <a:buChar char="●"/>
            </a:pPr>
            <a:r>
              <a:rPr lang="en" dirty="0">
                <a:solidFill>
                  <a:schemeClr val="dk1"/>
                </a:solidFill>
                <a:latin typeface="Amasis MT Pro" panose="02040504050005020304" pitchFamily="18" charset="0"/>
              </a:rPr>
              <a:t>To explore </a:t>
            </a:r>
            <a:r>
              <a:rPr lang="en" b="1" dirty="0">
                <a:solidFill>
                  <a:schemeClr val="dk1"/>
                </a:solidFill>
                <a:latin typeface="Amasis MT Pro" panose="02040504050005020304" pitchFamily="18" charset="0"/>
              </a:rPr>
              <a:t>lexical semantics</a:t>
            </a:r>
            <a:r>
              <a:rPr lang="en" dirty="0">
                <a:solidFill>
                  <a:schemeClr val="dk1"/>
                </a:solidFill>
                <a:latin typeface="Amasis MT Pro" panose="02040504050005020304" pitchFamily="18" charset="0"/>
              </a:rPr>
              <a:t> by finding synonyms and antonyms of words using WordNet.</a:t>
            </a:r>
            <a:br>
              <a:rPr lang="en" dirty="0">
                <a:solidFill>
                  <a:schemeClr val="dk1"/>
                </a:solidFill>
                <a:latin typeface="Amasis MT Pro" panose="02040504050005020304" pitchFamily="18" charset="0"/>
              </a:rPr>
            </a:br>
            <a:endParaRPr dirty="0">
              <a:solidFill>
                <a:schemeClr val="dk1"/>
              </a:solidFill>
              <a:latin typeface="Amasis MT Pro" panose="02040504050005020304" pitchFamily="18" charset="0"/>
            </a:endParaRPr>
          </a:p>
          <a:p>
            <a:pPr marL="457200" lvl="0" indent="-317500" rtl="0">
              <a:spcBef>
                <a:spcPts val="0"/>
              </a:spcBef>
              <a:spcAft>
                <a:spcPts val="0"/>
              </a:spcAft>
              <a:buClr>
                <a:schemeClr val="dk1"/>
              </a:buClr>
              <a:buSzPts val="1400"/>
              <a:buChar char="●"/>
            </a:pPr>
            <a:r>
              <a:rPr lang="en" dirty="0">
                <a:solidFill>
                  <a:schemeClr val="dk1"/>
                </a:solidFill>
                <a:latin typeface="Amasis MT Pro" panose="02040504050005020304" pitchFamily="18" charset="0"/>
              </a:rPr>
              <a:t>To understand </a:t>
            </a:r>
            <a:r>
              <a:rPr lang="en" b="1" dirty="0">
                <a:solidFill>
                  <a:schemeClr val="dk1"/>
                </a:solidFill>
                <a:latin typeface="Amasis MT Pro" panose="02040504050005020304" pitchFamily="18" charset="0"/>
              </a:rPr>
              <a:t>basic tensor operations and indexing</a:t>
            </a:r>
            <a:r>
              <a:rPr lang="en" dirty="0">
                <a:solidFill>
                  <a:schemeClr val="dk1"/>
                </a:solidFill>
                <a:latin typeface="Amasis MT Pro" panose="02040504050005020304" pitchFamily="18" charset="0"/>
              </a:rPr>
              <a:t> using PyTorch.</a:t>
            </a:r>
            <a:endParaRPr dirty="0">
              <a:solidFill>
                <a:schemeClr val="dk1"/>
              </a:solidFill>
              <a:latin typeface="Amasis MT Pro" panose="02040504050005020304" pitchFamily="18" charset="0"/>
            </a:endParaRPr>
          </a:p>
          <a:p>
            <a:pPr marL="0" lvl="0" indent="0" rtl="0">
              <a:spcBef>
                <a:spcPts val="0"/>
              </a:spcBef>
              <a:spcAft>
                <a:spcPts val="0"/>
              </a:spcAft>
              <a:buNone/>
            </a:pPr>
            <a:endParaRPr dirty="0">
              <a:solidFill>
                <a:schemeClr val="dk1"/>
              </a:solidFill>
              <a:latin typeface="Amasis MT Pro" panose="020405040500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p:nvPr/>
        </p:nvSpPr>
        <p:spPr>
          <a:xfrm>
            <a:off x="355386" y="508625"/>
            <a:ext cx="8327400" cy="4379100"/>
          </a:xfrm>
          <a:prstGeom prst="rect">
            <a:avLst/>
          </a:prstGeom>
          <a:noFill/>
          <a:ln>
            <a:noFill/>
          </a:ln>
        </p:spPr>
        <p:txBody>
          <a:bodyPr spcFirstLastPara="1" wrap="square" lIns="68575" tIns="34275" rIns="68575" bIns="34275" anchor="t" anchorCtr="0">
            <a:spAutoFit/>
          </a:bodyPr>
          <a:lstStyle/>
          <a:p>
            <a:pPr marL="457200" lvl="0" indent="-317500" algn="l" rtl="0">
              <a:spcBef>
                <a:spcPts val="0"/>
              </a:spcBef>
              <a:spcAft>
                <a:spcPts val="0"/>
              </a:spcAft>
              <a:buSzPts val="1400"/>
              <a:buAutoNum type="arabicPeriod"/>
            </a:pPr>
            <a:r>
              <a:rPr lang="en" b="1" dirty="0">
                <a:latin typeface="Amasis MT Pro" panose="02040504050005020304" pitchFamily="18" charset="0"/>
              </a:rPr>
              <a:t>Tokenization</a:t>
            </a:r>
            <a:endParaRPr b="1" dirty="0">
              <a:latin typeface="Amasis MT Pro" panose="02040504050005020304" pitchFamily="18" charset="0"/>
            </a:endParaRPr>
          </a:p>
          <a:p>
            <a:pPr marL="457200" lvl="7" indent="-317500">
              <a:buSzPts val="1400"/>
              <a:buChar char="●"/>
            </a:pPr>
            <a:r>
              <a:rPr lang="en" dirty="0">
                <a:latin typeface="Amasis MT Pro" panose="02040504050005020304" pitchFamily="18" charset="0"/>
              </a:rPr>
              <a:t>Breaking text into smaller units</a:t>
            </a:r>
            <a:endParaRPr dirty="0">
              <a:latin typeface="Amasis MT Pro" panose="02040504050005020304" pitchFamily="18" charset="0"/>
            </a:endParaRPr>
          </a:p>
          <a:p>
            <a:pPr marL="457200" lvl="7" indent="-317500">
              <a:buSzPts val="1400"/>
              <a:buChar char="●"/>
            </a:pPr>
            <a:r>
              <a:rPr lang="en" dirty="0">
                <a:latin typeface="Amasis MT Pro" panose="02040504050005020304" pitchFamily="18" charset="0"/>
              </a:rPr>
              <a:t>Two types: Sentence tokenization, Word tokenization</a:t>
            </a:r>
            <a:endParaRPr dirty="0">
              <a:latin typeface="Amasis MT Pro" panose="02040504050005020304" pitchFamily="18" charset="0"/>
            </a:endParaRPr>
          </a:p>
          <a:p>
            <a:pPr marL="457200" lvl="7" indent="-317500">
              <a:buSzPts val="1400"/>
              <a:buChar char="●"/>
            </a:pPr>
            <a:r>
              <a:rPr lang="en" dirty="0">
                <a:latin typeface="Amasis MT Pro" panose="02040504050005020304" pitchFamily="18" charset="0"/>
              </a:rPr>
              <a:t>Example: Text: NLP is very interesting.</a:t>
            </a:r>
            <a:endParaRPr dirty="0">
              <a:latin typeface="Amasis MT Pro" panose="02040504050005020304" pitchFamily="18" charset="0"/>
            </a:endParaRPr>
          </a:p>
          <a:p>
            <a:pPr marL="914400" lvl="8" indent="-317500">
              <a:buSzPts val="1400"/>
              <a:buChar char="○"/>
            </a:pPr>
            <a:r>
              <a:rPr lang="en" dirty="0">
                <a:latin typeface="Amasis MT Pro" panose="02040504050005020304" pitchFamily="18" charset="0"/>
              </a:rPr>
              <a:t>Sentence: ["NLP is very interesting."]</a:t>
            </a:r>
            <a:endParaRPr dirty="0">
              <a:latin typeface="Amasis MT Pro" panose="02040504050005020304" pitchFamily="18" charset="0"/>
            </a:endParaRPr>
          </a:p>
          <a:p>
            <a:pPr marL="914400" lvl="8" indent="-317500">
              <a:buSzPts val="1400"/>
              <a:buChar char="○"/>
            </a:pPr>
            <a:r>
              <a:rPr lang="en" dirty="0">
                <a:latin typeface="Amasis MT Pro" panose="02040504050005020304" pitchFamily="18" charset="0"/>
              </a:rPr>
              <a:t>Words: ["NLP", "is", "very", "interesting"]</a:t>
            </a:r>
            <a:endParaRPr dirty="0">
              <a:latin typeface="Amasis MT Pro" panose="02040504050005020304" pitchFamily="18" charset="0"/>
            </a:endParaRPr>
          </a:p>
          <a:p>
            <a:pPr marL="0" lvl="0" indent="0" algn="l" rtl="0">
              <a:spcBef>
                <a:spcPts val="0"/>
              </a:spcBef>
              <a:spcAft>
                <a:spcPts val="0"/>
              </a:spcAft>
              <a:buNone/>
            </a:pPr>
            <a:endParaRPr dirty="0">
              <a:latin typeface="Amasis MT Pro" panose="02040504050005020304" pitchFamily="18" charset="0"/>
            </a:endParaRPr>
          </a:p>
          <a:p>
            <a:pPr marL="457200" lvl="0" indent="-317500" algn="l" rtl="0">
              <a:spcBef>
                <a:spcPts val="0"/>
              </a:spcBef>
              <a:spcAft>
                <a:spcPts val="0"/>
              </a:spcAft>
              <a:buSzPts val="1400"/>
              <a:buAutoNum type="arabicPeriod"/>
            </a:pPr>
            <a:r>
              <a:rPr lang="en" b="1" dirty="0">
                <a:latin typeface="Amasis MT Pro" panose="02040504050005020304" pitchFamily="18" charset="0"/>
              </a:rPr>
              <a:t>Case Normalization (Lowercasing)</a:t>
            </a:r>
            <a:endParaRPr b="1"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Convert all text to lowercase</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Avoids duplicate words due to case</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Example:</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Before: NLP, Nlp, nlp</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After: nlp, nlp, nlp</a:t>
            </a:r>
            <a:endParaRPr dirty="0">
              <a:latin typeface="Amasis MT Pro" panose="02040504050005020304" pitchFamily="18" charset="0"/>
            </a:endParaRPr>
          </a:p>
          <a:p>
            <a:pPr marL="0" lvl="0" indent="0" algn="l" rtl="0">
              <a:spcBef>
                <a:spcPts val="0"/>
              </a:spcBef>
              <a:spcAft>
                <a:spcPts val="0"/>
              </a:spcAft>
              <a:buNone/>
            </a:pPr>
            <a:endParaRPr dirty="0">
              <a:latin typeface="Amasis MT Pro" panose="02040504050005020304" pitchFamily="18" charset="0"/>
            </a:endParaRPr>
          </a:p>
          <a:p>
            <a:pPr marL="457200" lvl="0" indent="-317500" algn="l" rtl="0">
              <a:spcBef>
                <a:spcPts val="0"/>
              </a:spcBef>
              <a:spcAft>
                <a:spcPts val="0"/>
              </a:spcAft>
              <a:buSzPts val="1400"/>
              <a:buAutoNum type="arabicPeriod"/>
            </a:pPr>
            <a:r>
              <a:rPr lang="en" b="1" dirty="0">
                <a:latin typeface="Amasis MT Pro" panose="02040504050005020304" pitchFamily="18" charset="0"/>
              </a:rPr>
              <a:t>Punctuation Removal</a:t>
            </a:r>
            <a:endParaRPr b="1" dirty="0">
              <a:solidFill>
                <a:schemeClr val="dk1"/>
              </a:solidFill>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Remove symbols like . , ! ?</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Keeps only meaningful words</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Example:</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Before: Hello!!! Welcome to NLP.</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After: Hello Welcome to NLP</a:t>
            </a:r>
            <a:endParaRPr dirty="0">
              <a:latin typeface="Amasis MT Pro" panose="020405040500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p:nvPr/>
        </p:nvSpPr>
        <p:spPr>
          <a:xfrm>
            <a:off x="300385" y="632378"/>
            <a:ext cx="8327400" cy="41637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b="1" dirty="0">
                <a:latin typeface="Amasis MT Pro" panose="02040504050005020304" pitchFamily="18" charset="0"/>
              </a:rPr>
              <a:t>  5. Stopword Removal</a:t>
            </a:r>
            <a:endParaRPr b="1"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Stopwords = very common words</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Examples: is, the, a, an, in, on</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Example:Sentence: NLP is a branch of AI</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After removal: ["NLP", "branch", "AI"]</a:t>
            </a:r>
            <a:endParaRPr dirty="0">
              <a:latin typeface="Amasis MT Pro" panose="02040504050005020304" pitchFamily="18" charset="0"/>
            </a:endParaRPr>
          </a:p>
          <a:p>
            <a:pPr marL="914400" lvl="0" indent="0" algn="l" rtl="0">
              <a:spcBef>
                <a:spcPts val="0"/>
              </a:spcBef>
              <a:spcAft>
                <a:spcPts val="0"/>
              </a:spcAft>
              <a:buNone/>
            </a:pPr>
            <a:endParaRPr dirty="0">
              <a:latin typeface="Amasis MT Pro" panose="02040504050005020304" pitchFamily="18" charset="0"/>
            </a:endParaRPr>
          </a:p>
          <a:p>
            <a:pPr marL="0" lvl="0" indent="0" algn="l" rtl="0">
              <a:spcBef>
                <a:spcPts val="0"/>
              </a:spcBef>
              <a:spcAft>
                <a:spcPts val="0"/>
              </a:spcAft>
              <a:buNone/>
            </a:pPr>
            <a:r>
              <a:rPr lang="en" b="1" dirty="0">
                <a:latin typeface="Amasis MT Pro" panose="02040504050005020304" pitchFamily="18" charset="0"/>
              </a:rPr>
              <a:t>  6. Stemming</a:t>
            </a:r>
            <a:endParaRPr b="1"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Reduces words to root form</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Root may not be a real word</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Playing -&gt; Play</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Studies -&gt; Study</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Connected -&gt; Connect</a:t>
            </a:r>
            <a:endParaRPr dirty="0">
              <a:latin typeface="Amasis MT Pro" panose="02040504050005020304" pitchFamily="18" charset="0"/>
            </a:endParaRPr>
          </a:p>
          <a:p>
            <a:pPr marL="0" lvl="0" indent="0" algn="l" rtl="0">
              <a:spcBef>
                <a:spcPts val="0"/>
              </a:spcBef>
              <a:spcAft>
                <a:spcPts val="0"/>
              </a:spcAft>
              <a:buNone/>
            </a:pPr>
            <a:endParaRPr dirty="0">
              <a:latin typeface="Amasis MT Pro" panose="02040504050005020304" pitchFamily="18" charset="0"/>
            </a:endParaRPr>
          </a:p>
          <a:p>
            <a:pPr marL="0" lvl="0" indent="0" algn="l" rtl="0">
              <a:spcBef>
                <a:spcPts val="0"/>
              </a:spcBef>
              <a:spcAft>
                <a:spcPts val="0"/>
              </a:spcAft>
              <a:buNone/>
            </a:pPr>
            <a:r>
              <a:rPr lang="en" b="1" dirty="0">
                <a:latin typeface="Amasis MT Pro" panose="02040504050005020304" pitchFamily="18" charset="0"/>
              </a:rPr>
              <a:t>   7. Lemmatization</a:t>
            </a:r>
            <a:endParaRPr b="1"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Converts words to dictionary base form</a:t>
            </a:r>
            <a:endParaRPr dirty="0">
              <a:latin typeface="Amasis MT Pro" panose="02040504050005020304" pitchFamily="18" charset="0"/>
            </a:endParaRPr>
          </a:p>
          <a:p>
            <a:pPr marL="457200" lvl="0" indent="-317500" algn="l" rtl="0">
              <a:spcBef>
                <a:spcPts val="0"/>
              </a:spcBef>
              <a:spcAft>
                <a:spcPts val="0"/>
              </a:spcAft>
              <a:buSzPts val="1400"/>
              <a:buChar char="●"/>
            </a:pPr>
            <a:r>
              <a:rPr lang="en" dirty="0">
                <a:latin typeface="Amasis MT Pro" panose="02040504050005020304" pitchFamily="18" charset="0"/>
              </a:rPr>
              <a:t>More accurate than stemming</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Running -&gt; Run</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Better -&gt; Good</a:t>
            </a:r>
            <a:endParaRPr dirty="0">
              <a:latin typeface="Amasis MT Pro" panose="02040504050005020304" pitchFamily="18" charset="0"/>
            </a:endParaRPr>
          </a:p>
          <a:p>
            <a:pPr marL="914400" lvl="1" indent="-317500" algn="l" rtl="0">
              <a:spcBef>
                <a:spcPts val="0"/>
              </a:spcBef>
              <a:spcAft>
                <a:spcPts val="0"/>
              </a:spcAft>
              <a:buSzPts val="1400"/>
              <a:buChar char="○"/>
            </a:pPr>
            <a:r>
              <a:rPr lang="en" dirty="0">
                <a:latin typeface="Amasis MT Pro" panose="02040504050005020304" pitchFamily="18" charset="0"/>
              </a:rPr>
              <a:t>Studies -&gt; Study</a:t>
            </a:r>
            <a:endParaRPr dirty="0">
              <a:latin typeface="Amasis MT Pro" panose="020405040500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43115" y="55001"/>
            <a:ext cx="8097900" cy="6450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chemeClr val="dk1"/>
              </a:buClr>
              <a:buSzPts val="4500"/>
              <a:buFont typeface="Arial"/>
              <a:buNone/>
            </a:pPr>
            <a:r>
              <a:rPr lang="en" sz="2700" b="1" dirty="0">
                <a:latin typeface="Amasis MT Pro" panose="02040504050005020304" pitchFamily="18" charset="0"/>
                <a:ea typeface="Arial"/>
                <a:cs typeface="Arial"/>
                <a:sym typeface="Arial"/>
              </a:rPr>
              <a:t>Assignment 1</a:t>
            </a:r>
            <a:endParaRPr sz="2700" b="1" dirty="0">
              <a:latin typeface="Amasis MT Pro" panose="02040504050005020304" pitchFamily="18" charset="0"/>
              <a:ea typeface="Arial"/>
              <a:cs typeface="Arial"/>
              <a:sym typeface="Arial"/>
            </a:endParaRPr>
          </a:p>
        </p:txBody>
      </p:sp>
      <p:sp>
        <p:nvSpPr>
          <p:cNvPr id="158" name="Google Shape;158;p29"/>
          <p:cNvSpPr txBox="1"/>
          <p:nvPr/>
        </p:nvSpPr>
        <p:spPr>
          <a:xfrm>
            <a:off x="408310" y="1030839"/>
            <a:ext cx="8327400" cy="2424300"/>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None/>
            </a:pPr>
            <a:r>
              <a:rPr lang="en" sz="1700" b="1" i="0" u="none" strike="noStrike" cap="none" dirty="0">
                <a:solidFill>
                  <a:srgbClr val="000000"/>
                </a:solidFill>
                <a:latin typeface="Amasis MT Pro" panose="02040504050005020304" pitchFamily="18" charset="0"/>
                <a:sym typeface="Arial"/>
              </a:rPr>
              <a:t>Question 1 :- </a:t>
            </a:r>
            <a:endParaRPr sz="1700" b="1" dirty="0">
              <a:latin typeface="Amasis MT Pro" panose="02040504050005020304" pitchFamily="18" charset="0"/>
            </a:endParaRPr>
          </a:p>
          <a:p>
            <a:pPr marL="0" marR="0" lvl="0" indent="0" algn="just" rtl="0">
              <a:lnSpc>
                <a:spcPct val="100000"/>
              </a:lnSpc>
              <a:spcBef>
                <a:spcPts val="0"/>
              </a:spcBef>
              <a:spcAft>
                <a:spcPts val="0"/>
              </a:spcAft>
              <a:buNone/>
            </a:pPr>
            <a:r>
              <a:rPr lang="en" sz="1700" b="0" i="0" u="none" strike="noStrike" cap="none" dirty="0">
                <a:solidFill>
                  <a:srgbClr val="000000"/>
                </a:solidFill>
                <a:latin typeface="Amasis MT Pro" panose="02040504050005020304" pitchFamily="18" charset="0"/>
                <a:sym typeface="Arial"/>
              </a:rPr>
              <a:t>Corpus: </a:t>
            </a:r>
            <a:r>
              <a:rPr lang="en" sz="1700" dirty="0">
                <a:latin typeface="Amasis MT Pro" panose="02040504050005020304" pitchFamily="18" charset="0"/>
              </a:rPr>
              <a:t>Refer to file corpus.txt</a:t>
            </a:r>
            <a:endParaRPr sz="1700" b="0" i="0" u="none" strike="noStrike" cap="none" dirty="0">
              <a:solidFill>
                <a:srgbClr val="000000"/>
              </a:solidFill>
              <a:latin typeface="Amasis MT Pro" panose="02040504050005020304" pitchFamily="18" charset="0"/>
              <a:sym typeface="Arial"/>
            </a:endParaRPr>
          </a:p>
          <a:p>
            <a:pPr marL="0" marR="0" lvl="0" indent="0" algn="just" rtl="0">
              <a:lnSpc>
                <a:spcPct val="100000"/>
              </a:lnSpc>
              <a:spcBef>
                <a:spcPts val="0"/>
              </a:spcBef>
              <a:spcAft>
                <a:spcPts val="0"/>
              </a:spcAft>
              <a:buNone/>
            </a:pPr>
            <a:endParaRPr sz="1700" dirty="0">
              <a:latin typeface="Amasis MT Pro" panose="02040504050005020304" pitchFamily="18" charset="0"/>
            </a:endParaRPr>
          </a:p>
          <a:p>
            <a:pPr marL="0" marR="0" lvl="0" indent="0" algn="just" rtl="0">
              <a:lnSpc>
                <a:spcPct val="100000"/>
              </a:lnSpc>
              <a:spcBef>
                <a:spcPts val="0"/>
              </a:spcBef>
              <a:spcAft>
                <a:spcPts val="0"/>
              </a:spcAft>
              <a:buNone/>
            </a:pPr>
            <a:r>
              <a:rPr lang="en" sz="1700" dirty="0">
                <a:latin typeface="Amasis MT Pro" panose="02040504050005020304" pitchFamily="18" charset="0"/>
              </a:rPr>
              <a:t>P</a:t>
            </a:r>
            <a:r>
              <a:rPr lang="en" sz="1700" b="0" i="0" u="none" strike="noStrike" cap="none" dirty="0">
                <a:solidFill>
                  <a:srgbClr val="000000"/>
                </a:solidFill>
                <a:latin typeface="Amasis MT Pro" panose="02040504050005020304" pitchFamily="18" charset="0"/>
                <a:sym typeface="Arial"/>
              </a:rPr>
              <a:t>erform the following tasks using NLTK: </a:t>
            </a:r>
            <a:endParaRPr sz="1700" dirty="0">
              <a:latin typeface="Amasis MT Pro" panose="02040504050005020304" pitchFamily="18" charset="0"/>
            </a:endParaRPr>
          </a:p>
          <a:p>
            <a:pPr marL="457200" lvl="0" indent="-336550" algn="just" rtl="0">
              <a:spcBef>
                <a:spcPts val="0"/>
              </a:spcBef>
              <a:spcAft>
                <a:spcPts val="0"/>
              </a:spcAft>
              <a:buSzPts val="1700"/>
              <a:buAutoNum type="arabicPeriod"/>
            </a:pPr>
            <a:r>
              <a:rPr lang="en" sz="1700" dirty="0">
                <a:latin typeface="Amasis MT Pro" panose="02040504050005020304" pitchFamily="18" charset="0"/>
              </a:rPr>
              <a:t>Read all the tokens of Corpus.txt and compute the type token ratio for that </a:t>
            </a:r>
            <a:endParaRPr sz="1700" dirty="0">
              <a:latin typeface="Amasis MT Pro" panose="02040504050005020304" pitchFamily="18" charset="0"/>
            </a:endParaRPr>
          </a:p>
          <a:p>
            <a:pPr marL="457200" lvl="0" indent="-336550" algn="just" rtl="0">
              <a:spcBef>
                <a:spcPts val="0"/>
              </a:spcBef>
              <a:spcAft>
                <a:spcPts val="0"/>
              </a:spcAft>
              <a:buSzPts val="1700"/>
              <a:buAutoNum type="arabicPeriod"/>
            </a:pPr>
            <a:r>
              <a:rPr lang="en" sz="1700" dirty="0">
                <a:latin typeface="Amasis MT Pro" panose="02040504050005020304" pitchFamily="18" charset="0"/>
              </a:rPr>
              <a:t>⁠Plot word distribution for the corpus </a:t>
            </a:r>
            <a:endParaRPr sz="1700" dirty="0">
              <a:latin typeface="Amasis MT Pro" panose="02040504050005020304" pitchFamily="18" charset="0"/>
            </a:endParaRPr>
          </a:p>
          <a:p>
            <a:pPr marL="457200" lvl="0" indent="-336550" algn="just" rtl="0">
              <a:spcBef>
                <a:spcPts val="0"/>
              </a:spcBef>
              <a:spcAft>
                <a:spcPts val="0"/>
              </a:spcAft>
              <a:buSzPts val="1700"/>
              <a:buAutoNum type="arabicPeriod"/>
            </a:pPr>
            <a:r>
              <a:rPr lang="en" sz="1700" dirty="0">
                <a:latin typeface="Amasis MT Pro" panose="02040504050005020304" pitchFamily="18" charset="0"/>
              </a:rPr>
              <a:t>⁠Plot Frequency of Frequency distribution </a:t>
            </a:r>
            <a:endParaRPr sz="1700" dirty="0">
              <a:latin typeface="Amasis MT Pro" panose="02040504050005020304" pitchFamily="18" charset="0"/>
            </a:endParaRPr>
          </a:p>
          <a:p>
            <a:pPr marL="457200" lvl="0" indent="-336550" algn="just" rtl="0">
              <a:spcBef>
                <a:spcPts val="0"/>
              </a:spcBef>
              <a:spcAft>
                <a:spcPts val="0"/>
              </a:spcAft>
              <a:buSzPts val="1700"/>
              <a:buAutoNum type="arabicPeriod"/>
            </a:pPr>
            <a:r>
              <a:rPr lang="en" sz="1700" dirty="0">
                <a:latin typeface="Amasis MT Pro" panose="02040504050005020304" pitchFamily="18" charset="0"/>
              </a:rPr>
              <a:t>Validate Zip's law</a:t>
            </a:r>
            <a:endParaRPr sz="1700" dirty="0">
              <a:latin typeface="Amasis MT Pro" panose="02040504050005020304" pitchFamily="18" charset="0"/>
            </a:endParaRPr>
          </a:p>
          <a:p>
            <a:pPr marL="342900" marR="0" lvl="0" indent="0" algn="just" rtl="0">
              <a:lnSpc>
                <a:spcPct val="100000"/>
              </a:lnSpc>
              <a:spcBef>
                <a:spcPts val="0"/>
              </a:spcBef>
              <a:spcAft>
                <a:spcPts val="0"/>
              </a:spcAft>
              <a:buNone/>
            </a:pPr>
            <a:endParaRPr sz="1700" b="0" i="0" u="none" strike="noStrike" cap="none" dirty="0">
              <a:solidFill>
                <a:srgbClr val="000000"/>
              </a:solidFill>
              <a:latin typeface="Amasis MT Pro" panose="02040504050005020304" pitchFamily="18" charset="0"/>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402433" y="55002"/>
            <a:ext cx="8097900" cy="6450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chemeClr val="dk1"/>
              </a:buClr>
              <a:buSzPts val="4500"/>
              <a:buFont typeface="Arial"/>
              <a:buNone/>
            </a:pPr>
            <a:r>
              <a:rPr lang="en" sz="2700" b="1" dirty="0">
                <a:latin typeface="Amasis MT Pro" panose="02040504050005020304" pitchFamily="18" charset="0"/>
                <a:ea typeface="Arial"/>
                <a:cs typeface="Arial"/>
                <a:sym typeface="Arial"/>
              </a:rPr>
              <a:t>Assignment 2</a:t>
            </a:r>
            <a:endParaRPr sz="2700" b="1" dirty="0">
              <a:latin typeface="Amasis MT Pro" panose="02040504050005020304" pitchFamily="18" charset="0"/>
              <a:ea typeface="Arial"/>
              <a:cs typeface="Arial"/>
              <a:sym typeface="Arial"/>
            </a:endParaRPr>
          </a:p>
        </p:txBody>
      </p:sp>
      <p:sp>
        <p:nvSpPr>
          <p:cNvPr id="164" name="Google Shape;164;p30"/>
          <p:cNvSpPr txBox="1"/>
          <p:nvPr/>
        </p:nvSpPr>
        <p:spPr>
          <a:xfrm>
            <a:off x="287683" y="779475"/>
            <a:ext cx="8327400" cy="3731761"/>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None/>
            </a:pPr>
            <a:r>
              <a:rPr lang="en" sz="1400" b="1" i="0" u="none" strike="noStrike" cap="none" dirty="0">
                <a:solidFill>
                  <a:srgbClr val="000000"/>
                </a:solidFill>
                <a:latin typeface="Amasis MT Pro" panose="02040504050005020304" pitchFamily="18" charset="0"/>
                <a:sym typeface="Arial"/>
              </a:rPr>
              <a:t>Question 1 :- </a:t>
            </a:r>
            <a:endParaRPr sz="1100" b="1" dirty="0">
              <a:latin typeface="Amasis MT Pro" panose="02040504050005020304" pitchFamily="18" charset="0"/>
            </a:endParaRPr>
          </a:p>
          <a:p>
            <a:pPr marL="0" marR="0" lvl="0" indent="0" algn="just" rtl="0">
              <a:lnSpc>
                <a:spcPct val="100000"/>
              </a:lnSpc>
              <a:spcBef>
                <a:spcPts val="0"/>
              </a:spcBef>
              <a:spcAft>
                <a:spcPts val="0"/>
              </a:spcAft>
              <a:buNone/>
            </a:pPr>
            <a:r>
              <a:rPr lang="en" sz="1400" b="0" i="0" u="none" strike="noStrike" cap="none" dirty="0">
                <a:solidFill>
                  <a:srgbClr val="000000"/>
                </a:solidFill>
                <a:latin typeface="Amasis MT Pro" panose="02040504050005020304" pitchFamily="18" charset="0"/>
                <a:sym typeface="Arial"/>
              </a:rPr>
              <a:t>Corpus: </a:t>
            </a:r>
            <a:endParaRPr sz="1100" dirty="0">
              <a:latin typeface="Amasis MT Pro" panose="02040504050005020304" pitchFamily="18" charset="0"/>
            </a:endParaRPr>
          </a:p>
          <a:p>
            <a:pPr marL="0" marR="0" lvl="0" indent="0" algn="just" rtl="0">
              <a:lnSpc>
                <a:spcPct val="100000"/>
              </a:lnSpc>
              <a:spcBef>
                <a:spcPts val="0"/>
              </a:spcBef>
              <a:spcAft>
                <a:spcPts val="0"/>
              </a:spcAft>
              <a:buNone/>
            </a:pPr>
            <a:r>
              <a:rPr lang="en" sz="1400" b="0" i="0" u="none" strike="noStrike" cap="none" dirty="0">
                <a:solidFill>
                  <a:srgbClr val="000000"/>
                </a:solidFill>
                <a:latin typeface="Amasis MT Pro" panose="02040504050005020304" pitchFamily="18" charset="0"/>
                <a:sym typeface="Arial"/>
              </a:rPr>
              <a:t>Natural Language Processing (NLP) is a branch of Artificial Intelligence that focuses on the interaction between computers and humans using natural language. NLP techniques are widely used in applications such as chatbots, machine translation, sentiment analysis, and information retrieval. By using libraries like NLTK, developers can tokenize text, remove stopwords, and analyze linguistic patterns efficiently. As data grows rapidly, NLP plays a crucial role in extracting meaningful insights from unstructured text data. </a:t>
            </a:r>
            <a:endParaRPr sz="1400" b="0" i="0" u="none" strike="noStrike" cap="none" dirty="0">
              <a:solidFill>
                <a:srgbClr val="000000"/>
              </a:solidFill>
              <a:latin typeface="Amasis MT Pro" panose="02040504050005020304" pitchFamily="18" charset="0"/>
              <a:sym typeface="Arial"/>
            </a:endParaRPr>
          </a:p>
          <a:p>
            <a:pPr marL="0" marR="0" lvl="0" indent="0" algn="just" rtl="0">
              <a:lnSpc>
                <a:spcPct val="100000"/>
              </a:lnSpc>
              <a:spcBef>
                <a:spcPts val="0"/>
              </a:spcBef>
              <a:spcAft>
                <a:spcPts val="0"/>
              </a:spcAft>
              <a:buNone/>
            </a:pPr>
            <a:endParaRPr dirty="0">
              <a:latin typeface="Amasis MT Pro" panose="02040504050005020304" pitchFamily="18" charset="0"/>
            </a:endParaRPr>
          </a:p>
          <a:p>
            <a:pPr marL="0" marR="0" lvl="0" indent="0" algn="just" rtl="0">
              <a:lnSpc>
                <a:spcPct val="100000"/>
              </a:lnSpc>
              <a:spcBef>
                <a:spcPts val="0"/>
              </a:spcBef>
              <a:spcAft>
                <a:spcPts val="0"/>
              </a:spcAft>
              <a:buNone/>
            </a:pPr>
            <a:r>
              <a:rPr lang="en" dirty="0">
                <a:latin typeface="Amasis MT Pro" panose="02040504050005020304" pitchFamily="18" charset="0"/>
              </a:rPr>
              <a:t>P</a:t>
            </a:r>
            <a:r>
              <a:rPr lang="en" sz="1400" b="0" i="0" u="none" strike="noStrike" cap="none" dirty="0">
                <a:solidFill>
                  <a:srgbClr val="000000"/>
                </a:solidFill>
                <a:latin typeface="Amasis MT Pro" panose="02040504050005020304" pitchFamily="18" charset="0"/>
                <a:sym typeface="Arial"/>
              </a:rPr>
              <a:t>erform the following tasks using NLTK: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Tokenize the paragraph into sentences.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Tokenize each sentence into words.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Convert all words to lowercase.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Remove all punctuation symbols.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Remove English stopwords using NLTK.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Count and display the total number of remaining words after preprocessing. </a:t>
            </a:r>
            <a:endParaRPr sz="1100"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Font typeface="Arial"/>
              <a:buAutoNum type="arabicPeriod"/>
            </a:pPr>
            <a:r>
              <a:rPr lang="en" sz="1400" b="0" i="0" u="none" strike="noStrike" cap="none" dirty="0">
                <a:solidFill>
                  <a:srgbClr val="000000"/>
                </a:solidFill>
                <a:latin typeface="Amasis MT Pro" panose="02040504050005020304" pitchFamily="18" charset="0"/>
                <a:sym typeface="Arial"/>
              </a:rPr>
              <a:t>Find and display the top 10 most frequent words with their frequencies. </a:t>
            </a:r>
            <a:endParaRPr sz="1100" dirty="0">
              <a:latin typeface="Amasis MT Pro" panose="02040504050005020304" pitchFamily="18" charset="0"/>
            </a:endParaRPr>
          </a:p>
          <a:p>
            <a:pPr marL="342900" marR="0" lvl="0" indent="0" algn="just" rtl="0">
              <a:lnSpc>
                <a:spcPct val="100000"/>
              </a:lnSpc>
              <a:spcBef>
                <a:spcPts val="0"/>
              </a:spcBef>
              <a:spcAft>
                <a:spcPts val="0"/>
              </a:spcAft>
              <a:buNone/>
            </a:pPr>
            <a:endParaRPr sz="1400" b="0" i="0" u="none" strike="noStrike" cap="none" dirty="0">
              <a:solidFill>
                <a:srgbClr val="000000"/>
              </a:solidFill>
              <a:latin typeface="Amasis MT Pro" panose="02040504050005020304" pitchFamily="18" charset="0"/>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453118" y="0"/>
            <a:ext cx="8097900" cy="6450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chemeClr val="dk1"/>
              </a:buClr>
              <a:buSzPts val="4500"/>
              <a:buFont typeface="Arial"/>
              <a:buNone/>
            </a:pPr>
            <a:r>
              <a:rPr lang="en" sz="2700" b="1" dirty="0">
                <a:latin typeface="Amasis MT Pro" panose="02040504050005020304" pitchFamily="18" charset="0"/>
                <a:ea typeface="Arial"/>
                <a:cs typeface="Arial"/>
                <a:sym typeface="Arial"/>
              </a:rPr>
              <a:t>Assignment-3</a:t>
            </a:r>
            <a:endParaRPr sz="2700" b="1" dirty="0">
              <a:latin typeface="Amasis MT Pro" panose="02040504050005020304" pitchFamily="18" charset="0"/>
              <a:ea typeface="Arial"/>
              <a:cs typeface="Arial"/>
              <a:sym typeface="Arial"/>
            </a:endParaRPr>
          </a:p>
        </p:txBody>
      </p:sp>
      <p:sp>
        <p:nvSpPr>
          <p:cNvPr id="170" name="Google Shape;170;p31"/>
          <p:cNvSpPr txBox="1"/>
          <p:nvPr/>
        </p:nvSpPr>
        <p:spPr>
          <a:xfrm>
            <a:off x="380330" y="802834"/>
            <a:ext cx="8327400" cy="3709500"/>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None/>
            </a:pPr>
            <a:r>
              <a:rPr lang="en" b="1" i="0" u="none" strike="noStrike" cap="none" dirty="0">
                <a:solidFill>
                  <a:srgbClr val="000000"/>
                </a:solidFill>
                <a:latin typeface="Amasis MT Pro" panose="02040504050005020304" pitchFamily="18" charset="0"/>
              </a:rPr>
              <a:t>Question 1 :- </a:t>
            </a:r>
            <a:r>
              <a:rPr lang="en" dirty="0">
                <a:latin typeface="Amasis MT Pro" panose="02040504050005020304" pitchFamily="18" charset="0"/>
              </a:rPr>
              <a:t>I</a:t>
            </a:r>
            <a:r>
              <a:rPr lang="en" dirty="0">
                <a:solidFill>
                  <a:schemeClr val="dk1"/>
                </a:solidFill>
                <a:latin typeface="Amasis MT Pro" panose="02040504050005020304" pitchFamily="18" charset="0"/>
              </a:rPr>
              <a:t>mplement a program to calculate and display </a:t>
            </a:r>
            <a:r>
              <a:rPr lang="en" b="1" dirty="0">
                <a:solidFill>
                  <a:schemeClr val="dk1"/>
                </a:solidFill>
                <a:latin typeface="Amasis MT Pro" panose="02040504050005020304" pitchFamily="18" charset="0"/>
              </a:rPr>
              <a:t>word frequency distribution </a:t>
            </a:r>
            <a:r>
              <a:rPr lang="en" dirty="0">
                <a:solidFill>
                  <a:schemeClr val="dk1"/>
                </a:solidFill>
                <a:latin typeface="Amasis MT Pro" panose="02040504050005020304" pitchFamily="18" charset="0"/>
              </a:rPr>
              <a:t>using NLTK.  </a:t>
            </a:r>
            <a:endParaRPr dirty="0">
              <a:solidFill>
                <a:schemeClr val="dk1"/>
              </a:solidFill>
              <a:latin typeface="Amasis MT Pro" panose="02040504050005020304" pitchFamily="18" charset="0"/>
            </a:endParaRPr>
          </a:p>
          <a:p>
            <a:pPr marL="0" marR="0" lvl="0" indent="0" algn="just" rtl="0">
              <a:lnSpc>
                <a:spcPct val="100000"/>
              </a:lnSpc>
              <a:spcBef>
                <a:spcPts val="0"/>
              </a:spcBef>
              <a:spcAft>
                <a:spcPts val="0"/>
              </a:spcAft>
              <a:buNone/>
            </a:pPr>
            <a:endParaRPr dirty="0">
              <a:latin typeface="Amasis MT Pro" panose="02040504050005020304" pitchFamily="18" charset="0"/>
            </a:endParaRPr>
          </a:p>
          <a:p>
            <a:pPr marL="0" lvl="0" indent="0" algn="just" rtl="0">
              <a:spcBef>
                <a:spcPts val="0"/>
              </a:spcBef>
              <a:spcAft>
                <a:spcPts val="0"/>
              </a:spcAft>
              <a:buClr>
                <a:schemeClr val="dk1"/>
              </a:buClr>
              <a:buSzPts val="1100"/>
              <a:buFont typeface="Arial"/>
              <a:buNone/>
            </a:pPr>
            <a:r>
              <a:rPr lang="en" b="1" dirty="0">
                <a:solidFill>
                  <a:schemeClr val="dk1"/>
                </a:solidFill>
                <a:latin typeface="Amasis MT Pro" panose="02040504050005020304" pitchFamily="18" charset="0"/>
              </a:rPr>
              <a:t>Question 2 :- </a:t>
            </a:r>
            <a:r>
              <a:rPr lang="en" dirty="0">
                <a:solidFill>
                  <a:schemeClr val="dk1"/>
                </a:solidFill>
                <a:latin typeface="Amasis MT Pro" panose="02040504050005020304" pitchFamily="18" charset="0"/>
              </a:rPr>
              <a:t>Develop a program using </a:t>
            </a:r>
            <a:r>
              <a:rPr lang="en" b="1" dirty="0">
                <a:solidFill>
                  <a:schemeClr val="dk1"/>
                </a:solidFill>
                <a:latin typeface="Amasis MT Pro" panose="02040504050005020304" pitchFamily="18" charset="0"/>
              </a:rPr>
              <a:t>WordNet </a:t>
            </a:r>
            <a:r>
              <a:rPr lang="en" dirty="0">
                <a:solidFill>
                  <a:schemeClr val="dk1"/>
                </a:solidFill>
                <a:latin typeface="Amasis MT Pro" panose="02040504050005020304" pitchFamily="18" charset="0"/>
              </a:rPr>
              <a:t>to find </a:t>
            </a:r>
            <a:r>
              <a:rPr lang="en" b="1" dirty="0">
                <a:solidFill>
                  <a:schemeClr val="dk1"/>
                </a:solidFill>
                <a:latin typeface="Amasis MT Pro" panose="02040504050005020304" pitchFamily="18" charset="0"/>
              </a:rPr>
              <a:t>synonyms and antonyms </a:t>
            </a:r>
            <a:r>
              <a:rPr lang="en" dirty="0">
                <a:solidFill>
                  <a:schemeClr val="dk1"/>
                </a:solidFill>
                <a:latin typeface="Amasis MT Pro" panose="02040504050005020304" pitchFamily="18" charset="0"/>
              </a:rPr>
              <a:t>of a given word. </a:t>
            </a:r>
            <a:endParaRPr dirty="0">
              <a:solidFill>
                <a:schemeClr val="dk1"/>
              </a:solidFill>
              <a:latin typeface="Amasis MT Pro" panose="02040504050005020304" pitchFamily="18" charset="0"/>
            </a:endParaRPr>
          </a:p>
          <a:p>
            <a:pPr marL="0" marR="0" lvl="0" indent="0" algn="just" rtl="0">
              <a:lnSpc>
                <a:spcPct val="100000"/>
              </a:lnSpc>
              <a:spcBef>
                <a:spcPts val="0"/>
              </a:spcBef>
              <a:spcAft>
                <a:spcPts val="0"/>
              </a:spcAft>
              <a:buNone/>
            </a:pPr>
            <a:endParaRPr dirty="0">
              <a:latin typeface="Amasis MT Pro" panose="02040504050005020304" pitchFamily="18" charset="0"/>
            </a:endParaRPr>
          </a:p>
          <a:p>
            <a:pPr marL="0" marR="0" lvl="0" indent="0" algn="just" rtl="0">
              <a:lnSpc>
                <a:spcPct val="100000"/>
              </a:lnSpc>
              <a:spcBef>
                <a:spcPts val="0"/>
              </a:spcBef>
              <a:spcAft>
                <a:spcPts val="0"/>
              </a:spcAft>
              <a:buNone/>
            </a:pPr>
            <a:r>
              <a:rPr lang="en" b="1" dirty="0">
                <a:latin typeface="Amasis MT Pro" panose="02040504050005020304" pitchFamily="18" charset="0"/>
              </a:rPr>
              <a:t>Question 3 :- </a:t>
            </a:r>
            <a:r>
              <a:rPr lang="en" i="0" u="none" strike="noStrike" cap="none" dirty="0">
                <a:solidFill>
                  <a:srgbClr val="000000"/>
                </a:solidFill>
                <a:latin typeface="Amasis MT Pro" panose="02040504050005020304" pitchFamily="18" charset="0"/>
              </a:rPr>
              <a:t>Write a PyTorch program to perform the following tasks: </a:t>
            </a:r>
            <a:endParaRPr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AutoNum type="arabicPeriod"/>
            </a:pPr>
            <a:r>
              <a:rPr lang="en" i="0" u="none" strike="noStrike" cap="none" dirty="0">
                <a:solidFill>
                  <a:srgbClr val="000000"/>
                </a:solidFill>
                <a:latin typeface="Amasis MT Pro" panose="02040504050005020304" pitchFamily="18" charset="0"/>
              </a:rPr>
              <a:t>Create a PyTorch tensor of size (5, 3) with random values. </a:t>
            </a:r>
            <a:endParaRPr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AutoNum type="arabicPeriod"/>
            </a:pPr>
            <a:r>
              <a:rPr lang="en" i="0" u="none" strike="noStrike" cap="none" dirty="0">
                <a:solidFill>
                  <a:srgbClr val="000000"/>
                </a:solidFill>
                <a:latin typeface="Amasis MT Pro" panose="02040504050005020304" pitchFamily="18" charset="0"/>
              </a:rPr>
              <a:t>Print the shape of the tensor. </a:t>
            </a:r>
            <a:endParaRPr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AutoNum type="arabicPeriod"/>
            </a:pPr>
            <a:r>
              <a:rPr lang="en" i="0" u="none" strike="noStrike" cap="none" dirty="0">
                <a:solidFill>
                  <a:srgbClr val="000000"/>
                </a:solidFill>
                <a:latin typeface="Amasis MT Pro" panose="02040504050005020304" pitchFamily="18" charset="0"/>
              </a:rPr>
              <a:t>Perform a mathematical operation on the tensor (e.g., multiplication or addition). </a:t>
            </a:r>
            <a:endParaRPr dirty="0">
              <a:latin typeface="Amasis MT Pro" panose="02040504050005020304" pitchFamily="18" charset="0"/>
            </a:endParaRPr>
          </a:p>
          <a:p>
            <a:pPr marL="457200" marR="0" lvl="0" indent="-317500" algn="just" rtl="0">
              <a:lnSpc>
                <a:spcPct val="100000"/>
              </a:lnSpc>
              <a:spcBef>
                <a:spcPts val="0"/>
              </a:spcBef>
              <a:spcAft>
                <a:spcPts val="0"/>
              </a:spcAft>
              <a:buClr>
                <a:srgbClr val="000000"/>
              </a:buClr>
              <a:buSzPts val="1400"/>
              <a:buAutoNum type="arabicPeriod"/>
            </a:pPr>
            <a:r>
              <a:rPr lang="en" i="0" u="none" strike="noStrike" cap="none" dirty="0">
                <a:solidFill>
                  <a:srgbClr val="000000"/>
                </a:solidFill>
                <a:latin typeface="Amasis MT Pro" panose="02040504050005020304" pitchFamily="18" charset="0"/>
              </a:rPr>
              <a:t>Compute the sum of all elements. </a:t>
            </a:r>
            <a:endParaRPr i="0" u="none" strike="noStrike" cap="none" dirty="0">
              <a:solidFill>
                <a:srgbClr val="000000"/>
              </a:solidFill>
              <a:latin typeface="Amasis MT Pro" panose="02040504050005020304" pitchFamily="18" charset="0"/>
            </a:endParaRPr>
          </a:p>
          <a:p>
            <a:pPr marL="0" marR="0" lvl="0" indent="0" algn="just" rtl="0">
              <a:lnSpc>
                <a:spcPct val="100000"/>
              </a:lnSpc>
              <a:spcBef>
                <a:spcPts val="0"/>
              </a:spcBef>
              <a:spcAft>
                <a:spcPts val="0"/>
              </a:spcAft>
              <a:buNone/>
            </a:pPr>
            <a:endParaRPr dirty="0">
              <a:latin typeface="Amasis MT Pro" panose="02040504050005020304" pitchFamily="18" charset="0"/>
            </a:endParaRPr>
          </a:p>
          <a:p>
            <a:pPr marL="88900" lvl="0" indent="0" algn="l" rtl="0">
              <a:spcBef>
                <a:spcPts val="300"/>
              </a:spcBef>
              <a:spcAft>
                <a:spcPts val="0"/>
              </a:spcAft>
              <a:buClr>
                <a:schemeClr val="dk1"/>
              </a:buClr>
              <a:buSzPts val="1400"/>
              <a:buFont typeface="Arial"/>
              <a:buNone/>
            </a:pPr>
            <a:r>
              <a:rPr lang="en" b="1" dirty="0">
                <a:solidFill>
                  <a:schemeClr val="dk1"/>
                </a:solidFill>
                <a:latin typeface="Amasis MT Pro" panose="02040504050005020304" pitchFamily="18" charset="0"/>
              </a:rPr>
              <a:t>Question 4. Write a PyTorch program to:</a:t>
            </a:r>
            <a:endParaRPr dirty="0">
              <a:solidFill>
                <a:schemeClr val="dk1"/>
              </a:solidFill>
              <a:latin typeface="Amasis MT Pro" panose="02040504050005020304" pitchFamily="18" charset="0"/>
            </a:endParaRPr>
          </a:p>
          <a:p>
            <a:pPr marL="342900" lvl="0" indent="-254000" algn="l" rtl="0">
              <a:spcBef>
                <a:spcPts val="300"/>
              </a:spcBef>
              <a:spcAft>
                <a:spcPts val="0"/>
              </a:spcAft>
              <a:buClr>
                <a:schemeClr val="dk1"/>
              </a:buClr>
              <a:buSzPts val="1400"/>
              <a:buChar char="•"/>
            </a:pPr>
            <a:r>
              <a:rPr lang="en" dirty="0">
                <a:solidFill>
                  <a:schemeClr val="dk1"/>
                </a:solidFill>
                <a:latin typeface="Amasis MT Pro" panose="02040504050005020304" pitchFamily="18" charset="0"/>
              </a:rPr>
              <a:t>Create a 1D tensor with values from 10 to 19</a:t>
            </a:r>
            <a:endParaRPr dirty="0">
              <a:solidFill>
                <a:schemeClr val="dk1"/>
              </a:solidFill>
              <a:latin typeface="Amasis MT Pro" panose="02040504050005020304" pitchFamily="18" charset="0"/>
            </a:endParaRPr>
          </a:p>
          <a:p>
            <a:pPr marL="342900" lvl="0" indent="-254000" algn="l" rtl="0">
              <a:spcBef>
                <a:spcPts val="300"/>
              </a:spcBef>
              <a:spcAft>
                <a:spcPts val="0"/>
              </a:spcAft>
              <a:buClr>
                <a:schemeClr val="dk1"/>
              </a:buClr>
              <a:buSzPts val="1400"/>
              <a:buChar char="•"/>
            </a:pPr>
            <a:r>
              <a:rPr lang="en" dirty="0">
                <a:solidFill>
                  <a:schemeClr val="dk1"/>
                </a:solidFill>
                <a:latin typeface="Amasis MT Pro" panose="02040504050005020304" pitchFamily="18" charset="0"/>
              </a:rPr>
              <a:t>Print the first element, last element, and middle elements</a:t>
            </a:r>
            <a:endParaRPr dirty="0">
              <a:solidFill>
                <a:schemeClr val="dk1"/>
              </a:solidFill>
              <a:latin typeface="Amasis MT Pro" panose="02040504050005020304" pitchFamily="18" charset="0"/>
            </a:endParaRPr>
          </a:p>
          <a:p>
            <a:pPr marL="342900" lvl="0" indent="-254000" algn="l" rtl="0">
              <a:spcBef>
                <a:spcPts val="300"/>
              </a:spcBef>
              <a:spcAft>
                <a:spcPts val="0"/>
              </a:spcAft>
              <a:buClr>
                <a:schemeClr val="dk1"/>
              </a:buClr>
              <a:buSzPts val="1400"/>
              <a:buChar char="•"/>
            </a:pPr>
            <a:r>
              <a:rPr lang="en" dirty="0">
                <a:solidFill>
                  <a:schemeClr val="dk1"/>
                </a:solidFill>
                <a:latin typeface="Amasis MT Pro" panose="02040504050005020304" pitchFamily="18" charset="0"/>
              </a:rPr>
              <a:t>Create a 2D tensor of shape (3, 4)</a:t>
            </a:r>
            <a:endParaRPr dirty="0">
              <a:solidFill>
                <a:schemeClr val="dk1"/>
              </a:solidFill>
              <a:latin typeface="Amasis MT Pro" panose="02040504050005020304" pitchFamily="18" charset="0"/>
            </a:endParaRPr>
          </a:p>
          <a:p>
            <a:pPr marL="342900" lvl="0" indent="-254000" algn="l" rtl="0">
              <a:spcBef>
                <a:spcPts val="300"/>
              </a:spcBef>
              <a:spcAft>
                <a:spcPts val="0"/>
              </a:spcAft>
              <a:buClr>
                <a:schemeClr val="dk1"/>
              </a:buClr>
              <a:buSzPts val="1400"/>
              <a:buChar char="•"/>
            </a:pPr>
            <a:r>
              <a:rPr lang="en" dirty="0">
                <a:solidFill>
                  <a:schemeClr val="dk1"/>
                </a:solidFill>
                <a:latin typeface="Amasis MT Pro" panose="02040504050005020304" pitchFamily="18" charset="0"/>
              </a:rPr>
              <a:t>Extract the first row, last column, and a 2×2 submatrix from it</a:t>
            </a:r>
            <a:endParaRPr dirty="0">
              <a:solidFill>
                <a:schemeClr val="dk1"/>
              </a:solidFill>
              <a:latin typeface="Amasis MT Pro" panose="02040504050005020304" pitchFamily="18" charset="0"/>
            </a:endParaRPr>
          </a:p>
          <a:p>
            <a:pPr marL="0" marR="0" lvl="0" indent="0" algn="just" rtl="0">
              <a:lnSpc>
                <a:spcPct val="100000"/>
              </a:lnSpc>
              <a:spcBef>
                <a:spcPts val="0"/>
              </a:spcBef>
              <a:spcAft>
                <a:spcPts val="0"/>
              </a:spcAft>
              <a:buNone/>
            </a:pPr>
            <a:endParaRPr dirty="0">
              <a:latin typeface="Amasis MT Pro" panose="020405040500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892448" y="2045807"/>
            <a:ext cx="6966600" cy="8091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chemeClr val="dk1"/>
              </a:buClr>
              <a:buSzPts val="4500"/>
              <a:buFont typeface="Arial"/>
              <a:buNone/>
            </a:pPr>
            <a:r>
              <a:rPr lang="en" sz="4500">
                <a:latin typeface="Amasis MT Pro" panose="02040504050005020304" pitchFamily="18" charset="0"/>
                <a:ea typeface="Arial"/>
                <a:cs typeface="Arial"/>
                <a:sym typeface="Arial"/>
              </a:rPr>
              <a:t>Thank you !</a:t>
            </a:r>
            <a:endParaRPr sz="2000">
              <a:latin typeface="Amasis MT Pro" panose="02040504050005020304" pitchFamily="18" charset="0"/>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704</Words>
  <Application>Microsoft Office PowerPoint</Application>
  <PresentationFormat>On-screen Show (16:9)</PresentationFormat>
  <Paragraphs>97</Paragraphs>
  <Slides>8</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Amasis MT Pro</vt:lpstr>
      <vt:lpstr>Arial</vt:lpstr>
      <vt:lpstr>Calibri</vt:lpstr>
      <vt:lpstr>Simple Light</vt:lpstr>
      <vt:lpstr>Office Theme</vt:lpstr>
      <vt:lpstr>PowerPoint Presentation</vt:lpstr>
      <vt:lpstr>Objectives</vt:lpstr>
      <vt:lpstr>PowerPoint Presentation</vt:lpstr>
      <vt:lpstr>PowerPoint Presentation</vt:lpstr>
      <vt:lpstr>Assignment 1</vt:lpstr>
      <vt:lpstr>Assignment 2</vt:lpstr>
      <vt:lpstr>Assignment-3</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SNK</dc:creator>
  <cp:lastModifiedBy>Sunil Kumar</cp:lastModifiedBy>
  <cp:revision>2</cp:revision>
  <dcterms:modified xsi:type="dcterms:W3CDTF">2026-01-19T10:08:09Z</dcterms:modified>
</cp:coreProperties>
</file>