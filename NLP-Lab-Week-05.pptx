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19" roundtripDataSignature="AMtx7mg6nDktk1aIRRheE1QsKDmjTJ25v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B539F17-E0CB-4DB2-8EE0-6235C61B6262}">
  <a:tblStyle styleId="{2B539F17-E0CB-4DB2-8EE0-6235C61B6262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customschemas.google.com/relationships/presentationmetadata" Target="metadata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p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3" name="Google Shape;83;p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c68b9006c8_0_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1" name="Google Shape;101;g3c68b9006c8_0_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c68b9006c8_0_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8" name="Google Shape;108;g3c68b9006c8_0_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c68b9006c8_0_2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6" name="Google Shape;116;g3c68b9006c8_0_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c68b9006c8_0_3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3" name="Google Shape;123;g3c68b9006c8_0_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c68b9006c8_0_4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0" name="Google Shape;130;g3c68b9006c8_0_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c68b9006c8_0_5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7" name="Google Shape;137;g3c68b9006c8_0_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5" name="Google Shape;14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c68b9006c8_0_6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1" name="Google Shape;151;g3c68b9006c8_0_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c68b9006c8_0_6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7" name="Google Shape;157;g3c68b9006c8_0_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3" name="Google Shape;16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8"/>
          <p:cNvSpPr txBox="1"/>
          <p:nvPr>
            <p:ph type="ctrTitle"/>
          </p:nvPr>
        </p:nvSpPr>
        <p:spPr>
          <a:xfrm>
            <a:off x="685800" y="1597820"/>
            <a:ext cx="7772400" cy="11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Google Shape;13;p8"/>
          <p:cNvSpPr txBox="1"/>
          <p:nvPr>
            <p:ph idx="1" type="subTitle"/>
          </p:nvPr>
        </p:nvSpPr>
        <p:spPr>
          <a:xfrm>
            <a:off x="1371600" y="2914650"/>
            <a:ext cx="6400800" cy="13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8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Google Shape;15;p8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Google Shape;16;p8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9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Google Shape;19;p9"/>
          <p:cNvSpPr txBox="1"/>
          <p:nvPr>
            <p:ph idx="1" type="body"/>
          </p:nvPr>
        </p:nvSpPr>
        <p:spPr>
          <a:xfrm>
            <a:off x="457200" y="1200151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Google Shape;20;p9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Google Shape;21;p9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Google Shape;22;p9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0"/>
          <p:cNvSpPr txBox="1"/>
          <p:nvPr>
            <p:ph type="title"/>
          </p:nvPr>
        </p:nvSpPr>
        <p:spPr>
          <a:xfrm>
            <a:off x="722313" y="3305176"/>
            <a:ext cx="7772400" cy="10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  <a:defRPr b="1" sz="3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Google Shape;25;p10"/>
          <p:cNvSpPr txBox="1"/>
          <p:nvPr>
            <p:ph idx="1" type="body"/>
          </p:nvPr>
        </p:nvSpPr>
        <p:spPr>
          <a:xfrm>
            <a:off x="722313" y="2180035"/>
            <a:ext cx="7772400" cy="1125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0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Google Shape;27;p10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Google Shape;28;p10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1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Google Shape;31;p11"/>
          <p:cNvSpPr txBox="1"/>
          <p:nvPr>
            <p:ph idx="1" type="body"/>
          </p:nvPr>
        </p:nvSpPr>
        <p:spPr>
          <a:xfrm>
            <a:off x="457200" y="1200151"/>
            <a:ext cx="4038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32" name="Google Shape;32;p11"/>
          <p:cNvSpPr txBox="1"/>
          <p:nvPr>
            <p:ph idx="2" type="body"/>
          </p:nvPr>
        </p:nvSpPr>
        <p:spPr>
          <a:xfrm>
            <a:off x="4648200" y="1200151"/>
            <a:ext cx="4038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33" name="Google Shape;33;p11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Google Shape;34;p11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Google Shape;35;p11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2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Google Shape;38;p12"/>
          <p:cNvSpPr txBox="1"/>
          <p:nvPr>
            <p:ph idx="1" type="body"/>
          </p:nvPr>
        </p:nvSpPr>
        <p:spPr>
          <a:xfrm>
            <a:off x="457200" y="1151335"/>
            <a:ext cx="40401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Google Shape;39;p12"/>
          <p:cNvSpPr txBox="1"/>
          <p:nvPr>
            <p:ph idx="2" type="body"/>
          </p:nvPr>
        </p:nvSpPr>
        <p:spPr>
          <a:xfrm>
            <a:off x="457200" y="1631156"/>
            <a:ext cx="4040100" cy="29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40" name="Google Shape;40;p12"/>
          <p:cNvSpPr txBox="1"/>
          <p:nvPr>
            <p:ph idx="3" type="body"/>
          </p:nvPr>
        </p:nvSpPr>
        <p:spPr>
          <a:xfrm>
            <a:off x="4645026" y="1151335"/>
            <a:ext cx="40416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Google Shape;41;p12"/>
          <p:cNvSpPr txBox="1"/>
          <p:nvPr>
            <p:ph idx="4" type="body"/>
          </p:nvPr>
        </p:nvSpPr>
        <p:spPr>
          <a:xfrm>
            <a:off x="4645026" y="1631156"/>
            <a:ext cx="4041600" cy="29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42" name="Google Shape;42;p12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Google Shape;43;p12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Google Shape;44;p12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3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Google Shape;47;p13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Google Shape;48;p13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Google Shape;49;p13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4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Google Shape;52;p14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Google Shape;53;p14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/>
          <p:nvPr>
            <p:ph type="title"/>
          </p:nvPr>
        </p:nvSpPr>
        <p:spPr>
          <a:xfrm>
            <a:off x="457201" y="204788"/>
            <a:ext cx="3008400" cy="871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Google Shape;56;p15"/>
          <p:cNvSpPr txBox="1"/>
          <p:nvPr>
            <p:ph idx="1" type="body"/>
          </p:nvPr>
        </p:nvSpPr>
        <p:spPr>
          <a:xfrm>
            <a:off x="3575050" y="204788"/>
            <a:ext cx="5111700" cy="43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2100"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4pPr>
            <a:lvl5pPr indent="-32385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 sz="1500"/>
            </a:lvl5pPr>
            <a:lvl6pPr indent="-32385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Google Shape;57;p15"/>
          <p:cNvSpPr txBox="1"/>
          <p:nvPr>
            <p:ph idx="2" type="body"/>
          </p:nvPr>
        </p:nvSpPr>
        <p:spPr>
          <a:xfrm>
            <a:off x="457201" y="1076326"/>
            <a:ext cx="3008400" cy="35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58" name="Google Shape;58;p15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Google Shape;59;p15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1792288" y="3600450"/>
            <a:ext cx="54864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Google Shape;63;p16"/>
          <p:cNvSpPr/>
          <p:nvPr>
            <p:ph idx="2" type="pic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1792288" y="4025504"/>
            <a:ext cx="54864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65" name="Google Shape;65;p16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Google Shape;66;p16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16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7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7"/>
          <p:cNvSpPr txBox="1"/>
          <p:nvPr>
            <p:ph idx="1" type="body"/>
          </p:nvPr>
        </p:nvSpPr>
        <p:spPr>
          <a:xfrm rot="5400000">
            <a:off x="2874750" y="-1217399"/>
            <a:ext cx="339450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Google Shape;71;p17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Google Shape;72;p17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Google Shape;73;p17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8"/>
          <p:cNvSpPr txBox="1"/>
          <p:nvPr>
            <p:ph type="title"/>
          </p:nvPr>
        </p:nvSpPr>
        <p:spPr>
          <a:xfrm rot="5400000">
            <a:off x="5463750" y="1371629"/>
            <a:ext cx="43887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8"/>
          <p:cNvSpPr txBox="1"/>
          <p:nvPr>
            <p:ph idx="1" type="body"/>
          </p:nvPr>
        </p:nvSpPr>
        <p:spPr>
          <a:xfrm rot="5400000">
            <a:off x="1272750" y="-609571"/>
            <a:ext cx="438870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Google Shape;77;p18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Google Shape;78;p18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Google Shape;79;p18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7"/>
          <p:cNvSpPr txBox="1"/>
          <p:nvPr>
            <p:ph idx="1" type="body"/>
          </p:nvPr>
        </p:nvSpPr>
        <p:spPr>
          <a:xfrm>
            <a:off x="457200" y="1200151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1950" lvl="1" marL="914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7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7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7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101" y="17943"/>
            <a:ext cx="651467" cy="918102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"/>
          <p:cNvSpPr txBox="1"/>
          <p:nvPr/>
        </p:nvSpPr>
        <p:spPr>
          <a:xfrm>
            <a:off x="783811" y="9856"/>
            <a:ext cx="7772100" cy="8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marR="0" rtl="0" algn="ctr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Atal Bihari Vajpayee</a:t>
            </a:r>
            <a:r>
              <a:rPr b="1" i="0" lang="en-US" sz="17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r>
              <a:rPr b="0" i="0" lang="en-US" sz="17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Indian Institute of Information Technology and Management Gwalior</a:t>
            </a:r>
            <a:endParaRPr b="0" i="0" sz="1700" u="none" cap="none" strike="noStrike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1026522" y="2955270"/>
            <a:ext cx="6605700" cy="67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Instructor – Dr. Sunil Kumar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Assistant Professor @ Dept. of Information Technology, ABV-IIITM Gwalior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2373217" y="1137326"/>
            <a:ext cx="39123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NLP Lab : 0</a:t>
            </a:r>
            <a:r>
              <a:rPr lang="en-US" sz="2800">
                <a:solidFill>
                  <a:srgbClr val="FF0000"/>
                </a:solidFill>
              </a:rPr>
              <a:t>5</a:t>
            </a:r>
            <a:r>
              <a:rPr b="0" i="0" lang="en-US" sz="2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212580" y="1876313"/>
            <a:ext cx="8883658" cy="77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-US" sz="4600">
                <a:solidFill>
                  <a:schemeClr val="dk1"/>
                </a:solidFill>
              </a:rPr>
              <a:t>Edit distance</a:t>
            </a:r>
            <a:endParaRPr b="0" i="0" sz="4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90" name="Google Shape;90;p1"/>
          <p:cNvGraphicFramePr/>
          <p:nvPr/>
        </p:nvGraphicFramePr>
        <p:xfrm>
          <a:off x="829655" y="399105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{2B539F17-E0CB-4DB2-8EE0-6235C61B6262}</a:tableStyleId>
              </a:tblPr>
              <a:tblGrid>
                <a:gridCol w="2246275"/>
                <a:gridCol w="3109850"/>
                <a:gridCol w="1995150"/>
              </a:tblGrid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0C0C0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Meher (PhD Scholar)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Sheel Patel &amp; Radhika [M.Tech IT]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Group-01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/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0C0C0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Shalmon Titre (MTech)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0C0C0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Lokesh Jain (MTech) 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Group-02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/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C0C0C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/>
                </a:tc>
              </a:tr>
            </a:tbl>
          </a:graphicData>
        </a:graphic>
      </p:graphicFrame>
      <p:sp>
        <p:nvSpPr>
          <p:cNvPr id="91" name="Google Shape;91;p1"/>
          <p:cNvSpPr txBox="1"/>
          <p:nvPr/>
        </p:nvSpPr>
        <p:spPr>
          <a:xfrm>
            <a:off x="3105675" y="3633870"/>
            <a:ext cx="29328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Teaching Assistants (TAs)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/>
          <p:nvPr>
            <p:ph type="title"/>
          </p:nvPr>
        </p:nvSpPr>
        <p:spPr>
          <a:xfrm>
            <a:off x="606850" y="60708"/>
            <a:ext cx="8235900" cy="80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100"/>
              <a:buFont typeface="Arial"/>
              <a:buNone/>
            </a:pPr>
            <a:r>
              <a:rPr lang="en-US" sz="4800">
                <a:latin typeface="Arial"/>
                <a:ea typeface="Arial"/>
                <a:cs typeface="Arial"/>
                <a:sym typeface="Arial"/>
              </a:rPr>
              <a:t>Objectives</a:t>
            </a:r>
            <a:endParaRPr sz="4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2"/>
          <p:cNvSpPr txBox="1"/>
          <p:nvPr/>
        </p:nvSpPr>
        <p:spPr>
          <a:xfrm>
            <a:off x="821498" y="1145797"/>
            <a:ext cx="7806600" cy="39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500">
                <a:solidFill>
                  <a:schemeClr val="dk1"/>
                </a:solidFill>
              </a:rPr>
              <a:t>After this lab, students will be able to:</a:t>
            </a:r>
            <a:endParaRPr sz="2500">
              <a:solidFill>
                <a:schemeClr val="dk1"/>
              </a:solidFill>
            </a:endParaRPr>
          </a:p>
          <a:p>
            <a:pPr indent="-38735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lang="en-US" sz="2500">
                <a:solidFill>
                  <a:schemeClr val="dk1"/>
                </a:solidFill>
              </a:rPr>
              <a:t>Understand the concept of Edit Distance</a:t>
            </a:r>
            <a:endParaRPr sz="2500">
              <a:solidFill>
                <a:schemeClr val="dk1"/>
              </a:solidFill>
            </a:endParaRPr>
          </a:p>
          <a:p>
            <a:pPr indent="-3873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lang="en-US" sz="2500">
                <a:solidFill>
                  <a:schemeClr val="dk1"/>
                </a:solidFill>
              </a:rPr>
              <a:t>Compute minimum edit distance between two strings</a:t>
            </a:r>
            <a:endParaRPr sz="2500">
              <a:solidFill>
                <a:schemeClr val="dk1"/>
              </a:solidFill>
            </a:endParaRPr>
          </a:p>
          <a:p>
            <a:pPr indent="-3873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lang="en-US" sz="2500">
                <a:solidFill>
                  <a:schemeClr val="dk1"/>
                </a:solidFill>
              </a:rPr>
              <a:t>Identify the sequence of edit operations used</a:t>
            </a:r>
            <a:endParaRPr sz="2500">
              <a:solidFill>
                <a:schemeClr val="dk1"/>
              </a:solidFill>
            </a:endParaRPr>
          </a:p>
          <a:p>
            <a:pPr indent="-3873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lang="en-US" sz="2500">
                <a:solidFill>
                  <a:schemeClr val="dk1"/>
                </a:solidFill>
              </a:rPr>
              <a:t>Customize edit operation costs</a:t>
            </a:r>
            <a:br>
              <a:rPr lang="en-US" sz="2500">
                <a:solidFill>
                  <a:schemeClr val="dk1"/>
                </a:solidFill>
              </a:rPr>
            </a:br>
            <a:endParaRPr sz="2500">
              <a:solidFill>
                <a:schemeClr val="dk1"/>
              </a:solidFill>
            </a:endParaRPr>
          </a:p>
          <a:p>
            <a:pPr indent="0" lvl="0" marL="0" marR="0" rtl="0" algn="just">
              <a:lnSpc>
                <a:spcPct val="178571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2500">
              <a:solidFill>
                <a:schemeClr val="dk1"/>
              </a:solidFill>
            </a:endParaRPr>
          </a:p>
        </p:txBody>
      </p:sp>
      <p:sp>
        <p:nvSpPr>
          <p:cNvPr id="98" name="Google Shape;98;p2"/>
          <p:cNvSpPr/>
          <p:nvPr/>
        </p:nvSpPr>
        <p:spPr>
          <a:xfrm>
            <a:off x="0" y="-123110"/>
            <a:ext cx="229550" cy="2462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c68b9006c8_0_2"/>
          <p:cNvSpPr txBox="1"/>
          <p:nvPr>
            <p:ph type="title"/>
          </p:nvPr>
        </p:nvSpPr>
        <p:spPr>
          <a:xfrm>
            <a:off x="454050" y="123208"/>
            <a:ext cx="8235900" cy="80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100"/>
              <a:buFont typeface="Arial"/>
              <a:buNone/>
            </a:pPr>
            <a:r>
              <a:rPr lang="en-US" sz="4800">
                <a:latin typeface="Arial"/>
                <a:ea typeface="Arial"/>
                <a:cs typeface="Arial"/>
                <a:sym typeface="Arial"/>
              </a:rPr>
              <a:t>What is Edit Distance?</a:t>
            </a:r>
            <a:endParaRPr sz="4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g3c68b9006c8_0_2"/>
          <p:cNvSpPr txBox="1"/>
          <p:nvPr/>
        </p:nvSpPr>
        <p:spPr>
          <a:xfrm>
            <a:off x="794398" y="1040569"/>
            <a:ext cx="7806600" cy="42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-381000" lvl="0" marL="457200" rtl="0" algn="just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Edit Distance measures how dissimilar two words are</a:t>
            </a:r>
            <a:endParaRPr sz="2400"/>
          </a:p>
          <a:p>
            <a:pPr indent="-381000" lvl="0" marL="457200" rtl="0" algn="just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It is defined as the minimum cost required to convert one word into another</a:t>
            </a:r>
            <a:endParaRPr sz="2400"/>
          </a:p>
          <a:p>
            <a:pPr indent="-381000" lvl="0" marL="457200" rtl="0" algn="just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Conversion is done using a set of edit operations</a:t>
            </a:r>
            <a:endParaRPr sz="2400"/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-381000" lvl="0" marL="457200" rtl="0" algn="just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Widely used in:</a:t>
            </a:r>
            <a:endParaRPr sz="2400"/>
          </a:p>
          <a:p>
            <a:pPr indent="-381000" lvl="0" marL="914400" rtl="0" algn="just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Spell checking</a:t>
            </a:r>
            <a:endParaRPr sz="2400"/>
          </a:p>
          <a:p>
            <a:pPr indent="-381000" lvl="0" marL="914400" rtl="0" algn="just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Speech recognition</a:t>
            </a:r>
            <a:endParaRPr sz="2400"/>
          </a:p>
          <a:p>
            <a:pPr indent="-381000" lvl="0" marL="914400" rtl="0" algn="just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Machine translation</a:t>
            </a:r>
            <a:endParaRPr sz="2400"/>
          </a:p>
          <a:p>
            <a:pPr indent="-381000" lvl="0" marL="914400" rtl="0" algn="just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Information retrieval</a:t>
            </a:r>
            <a:endParaRPr sz="24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2400"/>
          </a:p>
        </p:txBody>
      </p:sp>
      <p:sp>
        <p:nvSpPr>
          <p:cNvPr id="105" name="Google Shape;105;g3c68b9006c8_0_2"/>
          <p:cNvSpPr/>
          <p:nvPr/>
        </p:nvSpPr>
        <p:spPr>
          <a:xfrm>
            <a:off x="0" y="-123110"/>
            <a:ext cx="229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c68b9006c8_0_10"/>
          <p:cNvSpPr txBox="1"/>
          <p:nvPr>
            <p:ph type="title"/>
          </p:nvPr>
        </p:nvSpPr>
        <p:spPr>
          <a:xfrm>
            <a:off x="454050" y="123208"/>
            <a:ext cx="8235900" cy="80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100"/>
              <a:buFont typeface="Arial"/>
              <a:buNone/>
            </a:pPr>
            <a:r>
              <a:rPr lang="en-US" sz="4800">
                <a:latin typeface="Arial"/>
                <a:ea typeface="Arial"/>
                <a:cs typeface="Arial"/>
                <a:sym typeface="Arial"/>
              </a:rPr>
              <a:t>Edit Operations</a:t>
            </a:r>
            <a:endParaRPr sz="4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g3c68b9006c8_0_10"/>
          <p:cNvSpPr txBox="1"/>
          <p:nvPr/>
        </p:nvSpPr>
        <p:spPr>
          <a:xfrm>
            <a:off x="883348" y="1082232"/>
            <a:ext cx="78066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2000"/>
              <a:t>The basic edit operations are:</a:t>
            </a:r>
            <a:br>
              <a:rPr lang="en-US" sz="2000"/>
            </a:br>
            <a:endParaRPr sz="2000"/>
          </a:p>
        </p:txBody>
      </p:sp>
      <p:sp>
        <p:nvSpPr>
          <p:cNvPr id="112" name="Google Shape;112;g3c68b9006c8_0_10"/>
          <p:cNvSpPr/>
          <p:nvPr/>
        </p:nvSpPr>
        <p:spPr>
          <a:xfrm>
            <a:off x="0" y="-123110"/>
            <a:ext cx="229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3" name="Google Shape;113;g3c68b9006c8_0_10" title="Screenshot 2026-02-09 at 9.16.30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7451" y="1561600"/>
            <a:ext cx="6913075" cy="3382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c68b9006c8_0_24"/>
          <p:cNvSpPr txBox="1"/>
          <p:nvPr>
            <p:ph type="title"/>
          </p:nvPr>
        </p:nvSpPr>
        <p:spPr>
          <a:xfrm>
            <a:off x="454050" y="123208"/>
            <a:ext cx="8235900" cy="80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100"/>
              <a:buFont typeface="Arial"/>
              <a:buNone/>
            </a:pPr>
            <a:r>
              <a:rPr lang="en-US" sz="3700">
                <a:latin typeface="Arial"/>
                <a:ea typeface="Arial"/>
                <a:cs typeface="Arial"/>
                <a:sym typeface="Arial"/>
              </a:rPr>
              <a:t>Why Edit Distance is Important in NLP</a:t>
            </a:r>
            <a:endParaRPr sz="37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g3c68b9006c8_0_24"/>
          <p:cNvSpPr txBox="1"/>
          <p:nvPr/>
        </p:nvSpPr>
        <p:spPr>
          <a:xfrm>
            <a:off x="883348" y="1082232"/>
            <a:ext cx="7806600" cy="24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US" sz="2500"/>
              <a:t>Natural language contains errors and variations</a:t>
            </a:r>
            <a:endParaRPr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US" sz="2500"/>
              <a:t>Edit Distance helps in:</a:t>
            </a:r>
            <a:endParaRPr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US" sz="2500"/>
              <a:t>Correcting spelling mistakes</a:t>
            </a:r>
            <a:endParaRPr sz="2500"/>
          </a:p>
          <a:p>
            <a:pPr indent="-387350" lvl="1" marL="914400" rtl="0" algn="l">
              <a:spcBef>
                <a:spcPts val="0"/>
              </a:spcBef>
              <a:spcAft>
                <a:spcPts val="0"/>
              </a:spcAft>
              <a:buSzPts val="2500"/>
              <a:buChar char="○"/>
            </a:pPr>
            <a:r>
              <a:rPr lang="en-US" sz="2500"/>
              <a:t>Matching similar words</a:t>
            </a:r>
            <a:endParaRPr sz="2500"/>
          </a:p>
          <a:p>
            <a:pPr indent="-387350" lvl="1" marL="914400" rtl="0" algn="l">
              <a:spcBef>
                <a:spcPts val="0"/>
              </a:spcBef>
              <a:spcAft>
                <a:spcPts val="0"/>
              </a:spcAft>
              <a:buSzPts val="2500"/>
              <a:buChar char="○"/>
            </a:pPr>
            <a:r>
              <a:rPr lang="en-US" sz="2500"/>
              <a:t>Measuring string similarity</a:t>
            </a:r>
            <a:endParaRPr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US" sz="2500"/>
              <a:t>Provides a numerical similarity score</a:t>
            </a:r>
            <a:endParaRPr sz="2500"/>
          </a:p>
        </p:txBody>
      </p:sp>
      <p:sp>
        <p:nvSpPr>
          <p:cNvPr id="120" name="Google Shape;120;g3c68b9006c8_0_24"/>
          <p:cNvSpPr/>
          <p:nvPr/>
        </p:nvSpPr>
        <p:spPr>
          <a:xfrm>
            <a:off x="0" y="-123110"/>
            <a:ext cx="229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c68b9006c8_0_33"/>
          <p:cNvSpPr txBox="1"/>
          <p:nvPr>
            <p:ph type="title"/>
          </p:nvPr>
        </p:nvSpPr>
        <p:spPr>
          <a:xfrm>
            <a:off x="454050" y="123208"/>
            <a:ext cx="8235900" cy="80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100"/>
              <a:buFont typeface="Arial"/>
              <a:buNone/>
            </a:pPr>
            <a:r>
              <a:rPr lang="en-US" sz="3700">
                <a:latin typeface="Arial"/>
                <a:ea typeface="Arial"/>
                <a:cs typeface="Arial"/>
                <a:sym typeface="Arial"/>
              </a:rPr>
              <a:t>How Edit Distance is Computed</a:t>
            </a:r>
            <a:endParaRPr sz="37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g3c68b9006c8_0_33"/>
          <p:cNvSpPr txBox="1"/>
          <p:nvPr/>
        </p:nvSpPr>
        <p:spPr>
          <a:xfrm>
            <a:off x="883348" y="1082232"/>
            <a:ext cx="7806600" cy="27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Computed using Dynamic Programming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A 2D matrix (DP table) is constructed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Each cell represents the minimum cost to convert: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Prefix of word1 → prefix of word2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Final edit distance is found in the last cell of the matrix</a:t>
            </a:r>
            <a:endParaRPr sz="2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127" name="Google Shape;127;g3c68b9006c8_0_33"/>
          <p:cNvSpPr/>
          <p:nvPr/>
        </p:nvSpPr>
        <p:spPr>
          <a:xfrm>
            <a:off x="0" y="-123110"/>
            <a:ext cx="229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c68b9006c8_0_41"/>
          <p:cNvSpPr txBox="1"/>
          <p:nvPr>
            <p:ph type="title"/>
          </p:nvPr>
        </p:nvSpPr>
        <p:spPr>
          <a:xfrm>
            <a:off x="454050" y="123208"/>
            <a:ext cx="8235900" cy="80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100"/>
              <a:buFont typeface="Arial"/>
              <a:buNone/>
            </a:pPr>
            <a:r>
              <a:rPr lang="en-US" sz="3700">
                <a:latin typeface="Arial"/>
                <a:ea typeface="Arial"/>
                <a:cs typeface="Arial"/>
                <a:sym typeface="Arial"/>
              </a:rPr>
              <a:t>Example – Edit Distance Computation</a:t>
            </a:r>
            <a:endParaRPr sz="37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g3c68b9006c8_0_41"/>
          <p:cNvSpPr txBox="1"/>
          <p:nvPr/>
        </p:nvSpPr>
        <p:spPr>
          <a:xfrm>
            <a:off x="883348" y="1040607"/>
            <a:ext cx="7806600" cy="37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-3873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lang="en-US" sz="2500">
                <a:solidFill>
                  <a:schemeClr val="dk1"/>
                </a:solidFill>
              </a:rPr>
              <a:t>Input Words : word1 = "cat", word2 = "cut"</a:t>
            </a:r>
            <a:endParaRPr sz="2500">
              <a:solidFill>
                <a:schemeClr val="dk1"/>
              </a:solidFill>
            </a:endParaRPr>
          </a:p>
          <a:p>
            <a:pPr indent="-3873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lang="en-US" sz="2500">
                <a:solidFill>
                  <a:schemeClr val="dk1"/>
                </a:solidFill>
              </a:rPr>
              <a:t>Allowed operations:</a:t>
            </a:r>
            <a:endParaRPr sz="2500">
              <a:solidFill>
                <a:schemeClr val="dk1"/>
              </a:solidFill>
            </a:endParaRPr>
          </a:p>
          <a:p>
            <a:pPr indent="-387350" lvl="0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lang="en-US" sz="2500">
                <a:solidFill>
                  <a:schemeClr val="dk1"/>
                </a:solidFill>
              </a:rPr>
              <a:t>Insertion</a:t>
            </a:r>
            <a:endParaRPr sz="2500">
              <a:solidFill>
                <a:schemeClr val="dk1"/>
              </a:solidFill>
            </a:endParaRPr>
          </a:p>
          <a:p>
            <a:pPr indent="-387350" lvl="0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lang="en-US" sz="2500">
                <a:solidFill>
                  <a:schemeClr val="dk1"/>
                </a:solidFill>
              </a:rPr>
              <a:t>Deletion</a:t>
            </a:r>
            <a:endParaRPr sz="2500">
              <a:solidFill>
                <a:schemeClr val="dk1"/>
              </a:solidFill>
            </a:endParaRPr>
          </a:p>
          <a:p>
            <a:pPr indent="-387350" lvl="0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lang="en-US" sz="2500">
                <a:solidFill>
                  <a:schemeClr val="dk1"/>
                </a:solidFill>
              </a:rPr>
              <a:t>Substitution</a:t>
            </a:r>
            <a:endParaRPr sz="25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</a:rPr>
              <a:t>(All with cost = 1)</a:t>
            </a:r>
            <a:endParaRPr sz="2500">
              <a:solidFill>
                <a:schemeClr val="dk1"/>
              </a:solidFill>
            </a:endParaRPr>
          </a:p>
          <a:p>
            <a:pPr indent="0" lvl="0" marL="457200" rtl="0" algn="just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500">
              <a:solidFill>
                <a:schemeClr val="dk1"/>
              </a:solidFill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dk1"/>
              </a:solidFill>
            </a:endParaRPr>
          </a:p>
        </p:txBody>
      </p:sp>
      <p:sp>
        <p:nvSpPr>
          <p:cNvPr id="134" name="Google Shape;134;g3c68b9006c8_0_41"/>
          <p:cNvSpPr/>
          <p:nvPr/>
        </p:nvSpPr>
        <p:spPr>
          <a:xfrm>
            <a:off x="0" y="-123110"/>
            <a:ext cx="229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c68b9006c8_0_51"/>
          <p:cNvSpPr txBox="1"/>
          <p:nvPr>
            <p:ph type="title"/>
          </p:nvPr>
        </p:nvSpPr>
        <p:spPr>
          <a:xfrm>
            <a:off x="454050" y="123208"/>
            <a:ext cx="8235900" cy="80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100"/>
              <a:buFont typeface="Arial"/>
              <a:buNone/>
            </a:pPr>
            <a:r>
              <a:rPr lang="en-US" sz="3700">
                <a:latin typeface="Arial"/>
                <a:ea typeface="Arial"/>
                <a:cs typeface="Arial"/>
                <a:sym typeface="Arial"/>
              </a:rPr>
              <a:t>Example – Edit Distance Computation</a:t>
            </a:r>
            <a:endParaRPr sz="37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g3c68b9006c8_0_51"/>
          <p:cNvSpPr txBox="1"/>
          <p:nvPr/>
        </p:nvSpPr>
        <p:spPr>
          <a:xfrm>
            <a:off x="883348" y="1040607"/>
            <a:ext cx="7806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dk1"/>
              </a:solidFill>
            </a:endParaRPr>
          </a:p>
        </p:txBody>
      </p:sp>
      <p:sp>
        <p:nvSpPr>
          <p:cNvPr id="141" name="Google Shape;141;g3c68b9006c8_0_51"/>
          <p:cNvSpPr/>
          <p:nvPr/>
        </p:nvSpPr>
        <p:spPr>
          <a:xfrm>
            <a:off x="0" y="-123110"/>
            <a:ext cx="229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2" name="Google Shape;142;g3c68b9006c8_0_51" title="Screenshot 2026-02-09 at 9.26.14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5863" y="932300"/>
            <a:ext cx="8892275" cy="4052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3"/>
          <p:cNvSpPr txBox="1"/>
          <p:nvPr>
            <p:ph type="title"/>
          </p:nvPr>
        </p:nvSpPr>
        <p:spPr>
          <a:xfrm>
            <a:off x="343115" y="55001"/>
            <a:ext cx="8097900" cy="64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</a:pPr>
            <a:r>
              <a:rPr b="1" lang="en-US" sz="4000">
                <a:latin typeface="Arial"/>
                <a:ea typeface="Arial"/>
                <a:cs typeface="Arial"/>
                <a:sym typeface="Arial"/>
              </a:rPr>
              <a:t>Assignment 1</a:t>
            </a:r>
            <a:endParaRPr b="1" sz="4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3"/>
          <p:cNvSpPr txBox="1"/>
          <p:nvPr/>
        </p:nvSpPr>
        <p:spPr>
          <a:xfrm>
            <a:off x="258450" y="881300"/>
            <a:ext cx="8689800" cy="38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Question 1 :- </a:t>
            </a:r>
            <a:r>
              <a:rPr lang="en-US" sz="2000">
                <a:solidFill>
                  <a:schemeClr val="dk1"/>
                </a:solidFill>
              </a:rPr>
              <a:t>Given two input strings, compute the minimum number of edit operations (Insertion, Deletion, Substitution) required to convert the first word into the second word.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chemeClr val="dk1"/>
                </a:solidFill>
              </a:rPr>
              <a:t>Instructions</a:t>
            </a:r>
            <a:endParaRPr b="1" sz="2000">
              <a:solidFill>
                <a:schemeClr val="dk1"/>
              </a:solidFill>
            </a:endParaRPr>
          </a:p>
          <a:p>
            <a:pPr indent="-35560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Use Dynamic Programming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Assume equal cost (1) for all operations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Display the final edit distance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</a:rPr>
              <a:t>Sample Input </a:t>
            </a:r>
            <a:endParaRPr b="1" sz="2000">
              <a:solidFill>
                <a:schemeClr val="dk1"/>
              </a:solidFill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word1 = "intention"</a:t>
            </a:r>
            <a:endParaRPr sz="2000">
              <a:solidFill>
                <a:schemeClr val="dk1"/>
              </a:solidFill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word2 = "execution"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c68b9006c8_0_61"/>
          <p:cNvSpPr txBox="1"/>
          <p:nvPr>
            <p:ph type="title"/>
          </p:nvPr>
        </p:nvSpPr>
        <p:spPr>
          <a:xfrm>
            <a:off x="343115" y="55001"/>
            <a:ext cx="8097900" cy="64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</a:pPr>
            <a:r>
              <a:rPr b="1" lang="en-US" sz="4000">
                <a:latin typeface="Arial"/>
                <a:ea typeface="Arial"/>
                <a:cs typeface="Arial"/>
                <a:sym typeface="Arial"/>
              </a:rPr>
              <a:t>Assignment 2</a:t>
            </a:r>
            <a:endParaRPr b="1" sz="4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g3c68b9006c8_0_61"/>
          <p:cNvSpPr txBox="1"/>
          <p:nvPr/>
        </p:nvSpPr>
        <p:spPr>
          <a:xfrm>
            <a:off x="258450" y="881300"/>
            <a:ext cx="8689800" cy="3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lang="en-US" sz="2000"/>
              <a:t>Question </a:t>
            </a:r>
            <a:r>
              <a:rPr b="1" lang="en-US" sz="2000"/>
              <a:t>2</a:t>
            </a:r>
            <a:r>
              <a:rPr b="1" lang="en-US" sz="2000"/>
              <a:t> :- </a:t>
            </a:r>
            <a:r>
              <a:rPr lang="en-US" sz="2000"/>
              <a:t>For two given words, compute the edit distance and display the actual edit operations used to transform word1 into word2.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/>
              <a:t>Instructions</a:t>
            </a:r>
            <a:endParaRPr b="1"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Compute the DP matrix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Trace back from the last cell to the first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Print the operations in order:</a:t>
            </a:r>
            <a:endParaRPr sz="2000"/>
          </a:p>
          <a:p>
            <a:pPr indent="-355600" lvl="0" marL="9144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Insert, Delete, Substitute</a:t>
            </a:r>
            <a:endParaRPr sz="2000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/>
              <a:t>Sample Input </a:t>
            </a:r>
            <a:endParaRPr b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word1 = "plane"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word2 = "plans"</a:t>
            </a:r>
            <a:endParaRPr sz="2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c68b9006c8_0_68"/>
          <p:cNvSpPr txBox="1"/>
          <p:nvPr>
            <p:ph type="title"/>
          </p:nvPr>
        </p:nvSpPr>
        <p:spPr>
          <a:xfrm>
            <a:off x="343115" y="55001"/>
            <a:ext cx="8097900" cy="64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</a:pPr>
            <a:r>
              <a:rPr b="1" lang="en-US" sz="4000">
                <a:latin typeface="Arial"/>
                <a:ea typeface="Arial"/>
                <a:cs typeface="Arial"/>
                <a:sym typeface="Arial"/>
              </a:rPr>
              <a:t>Assignment 3</a:t>
            </a:r>
            <a:endParaRPr b="1" sz="4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g3c68b9006c8_0_68"/>
          <p:cNvSpPr txBox="1"/>
          <p:nvPr/>
        </p:nvSpPr>
        <p:spPr>
          <a:xfrm>
            <a:off x="343125" y="642575"/>
            <a:ext cx="8689800" cy="43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lang="en-US" sz="2000"/>
              <a:t>Question </a:t>
            </a:r>
            <a:r>
              <a:rPr b="1" lang="en-US" sz="2000"/>
              <a:t>3</a:t>
            </a:r>
            <a:r>
              <a:rPr lang="en-US" sz="2000"/>
              <a:t> :- </a:t>
            </a:r>
            <a:r>
              <a:rPr lang="en-US" sz="2000"/>
              <a:t>Modify the edit distance algorithm to support different costs for edit operations.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/>
              <a:t>Given Costs (Example)</a:t>
            </a:r>
            <a:endParaRPr b="1"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Insertion = 1, Deletion = 1, Substitution = 2</a:t>
            </a:r>
            <a:endParaRPr sz="20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/>
              <a:t>Instructions</a:t>
            </a:r>
            <a:endParaRPr b="1"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Update the DP recurrence with given costs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Compute the final edit distance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Compare the result with uniform-cost edit distance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/>
              <a:t>Sample Input </a:t>
            </a:r>
            <a:endParaRPr b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word1 = "book"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word2 = "back"</a:t>
            </a:r>
            <a:endParaRPr sz="20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6"/>
          <p:cNvSpPr txBox="1"/>
          <p:nvPr>
            <p:ph type="title"/>
          </p:nvPr>
        </p:nvSpPr>
        <p:spPr>
          <a:xfrm>
            <a:off x="892448" y="2045807"/>
            <a:ext cx="6966600" cy="80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</a:pPr>
            <a:r>
              <a:rPr lang="en-US" sz="4500">
                <a:latin typeface="Arial"/>
                <a:ea typeface="Arial"/>
                <a:cs typeface="Arial"/>
                <a:sym typeface="Arial"/>
              </a:rPr>
              <a:t>Thank you !</a:t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