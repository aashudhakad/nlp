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6Bnd2fiVXWfDahbrFUb6F3CRx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69883E-F300-4883-984C-68131725A752}">
  <a:tblStyle styleId="{1269883E-F300-4883-984C-68131725A7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ca3ec996a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g3bca3ec996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ca3ec996a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g3bca3ec996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ca3ec996a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g3bca3ec996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ca3ec996a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3bca3ec996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01" y="23924"/>
            <a:ext cx="868623" cy="122413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045082" y="13141"/>
            <a:ext cx="10362563" cy="118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IN" sz="2200" b="0" i="0" u="none" strike="noStrike" cap="none">
                <a:solidFill>
                  <a:schemeClr val="dk1"/>
                </a:solidFill>
                <a:latin typeface="Amasis MT Pro" panose="02040504050005020304" pitchFamily="18" charset="0"/>
                <a:sym typeface="Arial"/>
              </a:rPr>
              <a:t>Atal Bihari Vajpayee</a:t>
            </a:r>
            <a:r>
              <a:rPr lang="en-IN" sz="2200" b="1" i="0" u="none" strike="noStrike" cap="none">
                <a:solidFill>
                  <a:srgbClr val="002060"/>
                </a:solidFill>
                <a:latin typeface="Amasis MT Pro" panose="02040504050005020304" pitchFamily="18" charset="0"/>
                <a:sym typeface="Arial"/>
              </a:rPr>
              <a:t>- </a:t>
            </a:r>
            <a:r>
              <a:rPr lang="en-IN" sz="2200" b="0" i="0" u="none" strike="noStrike" cap="none">
                <a:solidFill>
                  <a:srgbClr val="002060"/>
                </a:solidFill>
                <a:latin typeface="Amasis MT Pro" panose="02040504050005020304" pitchFamily="18" charset="0"/>
                <a:sym typeface="Arial"/>
              </a:rPr>
              <a:t>Indian Institute of Information Technology and Management Gwalior</a:t>
            </a:r>
            <a:endParaRPr sz="2200" b="0" i="0" u="none" strike="noStrike" cap="none">
              <a:solidFill>
                <a:srgbClr val="002060"/>
              </a:solidFill>
              <a:latin typeface="Amasis MT Pro" panose="02040504050005020304" pitchFamily="18" charset="0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68696" y="3940360"/>
            <a:ext cx="8807398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lang="en-IN" sz="2000" b="1" i="0" u="none" strike="noStrike" cap="none">
                <a:solidFill>
                  <a:srgbClr val="002060"/>
                </a:solidFill>
                <a:latin typeface="Amasis MT Pro" panose="02040504050005020304" pitchFamily="18" charset="0"/>
                <a:sym typeface="Arial"/>
              </a:rPr>
              <a:t>Instructor – Dr. Sunil Kumar</a:t>
            </a:r>
            <a:endParaRPr sz="2000" b="0" i="0" u="none" strike="noStrike" cap="none">
              <a:solidFill>
                <a:srgbClr val="000000"/>
              </a:solidFill>
              <a:latin typeface="Amasis MT Pro" panose="020405040500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lang="en-IN" sz="2000" b="0" i="0" u="none" strike="noStrike" cap="none">
                <a:solidFill>
                  <a:srgbClr val="002060"/>
                </a:solidFill>
                <a:latin typeface="Amasis MT Pro" panose="02040504050005020304" pitchFamily="18" charset="0"/>
                <a:sym typeface="Arial"/>
              </a:rPr>
              <a:t>Assistant Professor @ Dept. of Information Technology, ABV-IIITM Gwalior</a:t>
            </a:r>
            <a:endParaRPr sz="2000" b="0" i="0" u="none" strike="noStrike" cap="none">
              <a:solidFill>
                <a:srgbClr val="000000"/>
              </a:solidFill>
              <a:latin typeface="Amasis MT Pro" panose="02040504050005020304" pitchFamily="18" charset="0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337698" y="1860689"/>
            <a:ext cx="5216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Amasis MT Pro" panose="02040504050005020304" pitchFamily="18" charset="0"/>
                <a:sym typeface="Arial"/>
              </a:rPr>
              <a:t>NLP Lab : 0</a:t>
            </a:r>
            <a:r>
              <a:rPr lang="en-IN" sz="3200">
                <a:solidFill>
                  <a:srgbClr val="FF0000"/>
                </a:solidFill>
                <a:latin typeface="Amasis MT Pro" panose="02040504050005020304" pitchFamily="18" charset="0"/>
              </a:rPr>
              <a:t>4</a:t>
            </a:r>
            <a:r>
              <a:rPr lang="en-IN" sz="3200" b="0" i="0" u="none" strike="noStrike" cap="none">
                <a:solidFill>
                  <a:srgbClr val="FF0000"/>
                </a:solidFill>
                <a:latin typeface="Amasis MT Pro" panose="02040504050005020304" pitchFamily="18" charset="0"/>
                <a:sym typeface="Arial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masis MT Pro" panose="02040504050005020304" pitchFamily="18" charset="0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67843" y="2380773"/>
            <a:ext cx="10809105" cy="1039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Amasis MT Pro" panose="02040504050005020304" pitchFamily="18" charset="0"/>
                <a:sym typeface="Arial"/>
              </a:rPr>
              <a:t>Introduction to </a:t>
            </a:r>
            <a:r>
              <a:rPr lang="en-IN" sz="2400" b="1">
                <a:solidFill>
                  <a:schemeClr val="dk1"/>
                </a:solidFill>
                <a:latin typeface="Amasis MT Pro" panose="02040504050005020304" pitchFamily="18" charset="0"/>
              </a:rPr>
              <a:t>Finite State Automata for Morphological Parsing</a:t>
            </a:r>
            <a:endParaRPr sz="2400" b="1" i="0" u="none" strike="noStrike" cap="none">
              <a:solidFill>
                <a:schemeClr val="dk1"/>
              </a:solidFill>
              <a:latin typeface="Amasis MT Pro" panose="02040504050005020304" pitchFamily="18" charset="0"/>
              <a:sym typeface="Arial"/>
            </a:endParaRPr>
          </a:p>
        </p:txBody>
      </p:sp>
      <p:graphicFrame>
        <p:nvGraphicFramePr>
          <p:cNvPr id="94" name="Google Shape;94;p1"/>
          <p:cNvGraphicFramePr/>
          <p:nvPr/>
        </p:nvGraphicFramePr>
        <p:xfrm>
          <a:off x="1106207" y="5321412"/>
          <a:ext cx="9801700" cy="1112550"/>
        </p:xfrm>
        <a:graphic>
          <a:graphicData uri="http://schemas.openxmlformats.org/drawingml/2006/table">
            <a:tbl>
              <a:tblPr firstRow="1" bandRow="1">
                <a:noFill/>
                <a:tableStyleId>{1269883E-F300-4883-984C-68131725A752}</a:tableStyleId>
              </a:tblPr>
              <a:tblGrid>
                <a:gridCol w="299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Meher (PhD Scholar)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Sheel Patel &amp; Radhika [M.Tech IT]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Group-01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Shalmon Titre (MTech)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Lokesh Jain (MTech) 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Group-02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5" name="Google Shape;95;p1"/>
          <p:cNvSpPr txBox="1"/>
          <p:nvPr/>
        </p:nvSpPr>
        <p:spPr>
          <a:xfrm>
            <a:off x="4140900" y="4845160"/>
            <a:ext cx="391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chemeClr val="dk1"/>
                </a:solidFill>
                <a:latin typeface="Amasis MT Pro" panose="02040504050005020304" pitchFamily="18" charset="0"/>
                <a:sym typeface="Arial"/>
              </a:rPr>
              <a:t>Teaching Assistants (TAs)</a:t>
            </a:r>
            <a:endParaRPr sz="1400" b="0" i="0" u="none" strike="noStrike" cap="none">
              <a:solidFill>
                <a:srgbClr val="000000"/>
              </a:solidFill>
              <a:latin typeface="Amasis MT Pro" panose="020405040500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6DBED-D342-4764-A475-2EEE48DAB50B}"/>
              </a:ext>
            </a:extLst>
          </p:cNvPr>
          <p:cNvSpPr txBox="1"/>
          <p:nvPr/>
        </p:nvSpPr>
        <p:spPr>
          <a:xfrm>
            <a:off x="4009293" y="3378347"/>
            <a:ext cx="33424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( </a:t>
            </a:r>
            <a:r>
              <a:rPr lang="en-IN" sz="2000" b="1" dirty="0" err="1">
                <a:solidFill>
                  <a:srgbClr val="FF0000"/>
                </a:solidFill>
                <a:latin typeface="Amasis MT Pro" panose="02040504050005020304" pitchFamily="18" charset="0"/>
              </a:rPr>
              <a:t>openfst</a:t>
            </a:r>
            <a:r>
              <a:rPr lang="en-IN" sz="2000" b="1" dirty="0">
                <a:solidFill>
                  <a:srgbClr val="FF0000"/>
                </a:solidFill>
                <a:latin typeface="Amasis MT Pro" panose="02040504050005020304" pitchFamily="18" charset="0"/>
              </a:rPr>
              <a:t>-python library )</a:t>
            </a:r>
            <a:endParaRPr lang="en-IN" sz="2000" b="1" dirty="0">
              <a:solidFill>
                <a:schemeClr val="tx1"/>
              </a:solidFill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335360" y="32186"/>
            <a:ext cx="10981200" cy="10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IN" sz="4000">
                <a:latin typeface="Arial"/>
                <a:ea typeface="Arial"/>
                <a:cs typeface="Arial"/>
                <a:sym typeface="Arial"/>
              </a:rPr>
              <a:t>Objectives 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792560" y="1395429"/>
            <a:ext cx="10408800" cy="191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73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IN" sz="2500" dirty="0">
                <a:solidFill>
                  <a:schemeClr val="dk1"/>
                </a:solidFill>
                <a:latin typeface="Amasis MT Pro" panose="02040504050005020304" pitchFamily="18" charset="0"/>
              </a:rPr>
              <a:t>The objective of this lab is to understand how Finite State Automata (FSA) can be used for morphological parsing, i.e., </a:t>
            </a:r>
            <a:r>
              <a:rPr lang="en-IN" sz="2500" dirty="0" err="1">
                <a:solidFill>
                  <a:schemeClr val="dk1"/>
                </a:solidFill>
                <a:latin typeface="Amasis MT Pro" panose="02040504050005020304" pitchFamily="18" charset="0"/>
              </a:rPr>
              <a:t>analyzing</a:t>
            </a:r>
            <a:r>
              <a:rPr lang="en-IN" sz="2500" dirty="0">
                <a:solidFill>
                  <a:schemeClr val="dk1"/>
                </a:solidFill>
                <a:latin typeface="Amasis MT Pro" panose="02040504050005020304" pitchFamily="18" charset="0"/>
              </a:rPr>
              <a:t> words into their smallest meaningful units such as roots, prefixes, and suffixes.</a:t>
            </a:r>
            <a:endParaRPr sz="2500" i="0" u="none" strike="noStrike" cap="none" dirty="0">
              <a:solidFill>
                <a:srgbClr val="000000"/>
              </a:solidFill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335360" y="32186"/>
            <a:ext cx="10981200" cy="10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IN" sz="4000">
                <a:latin typeface="Amasis MT Pro" panose="02040504050005020304" pitchFamily="18" charset="0"/>
                <a:ea typeface="Arial"/>
                <a:cs typeface="Arial"/>
                <a:sym typeface="Arial"/>
              </a:rPr>
              <a:t>Introduction to Morphology</a:t>
            </a:r>
            <a:endParaRPr sz="4000">
              <a:latin typeface="Amasis MT Pro" panose="0204050405000502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9132" y="1102171"/>
            <a:ext cx="10622700" cy="6196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Morphology</a:t>
            </a: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 is the branch of linguistics that studies the internal structure of words.</a:t>
            </a: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Basic Terms</a:t>
            </a:r>
            <a:endParaRPr sz="2000" b="1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Morpheme</a:t>
            </a: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: Smallest meaningful unit of a word</a:t>
            </a: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Example: </a:t>
            </a:r>
            <a:r>
              <a:rPr lang="en-IN" sz="2000" i="1">
                <a:solidFill>
                  <a:schemeClr val="dk1"/>
                </a:solidFill>
                <a:latin typeface="Amasis MT Pro" panose="02040504050005020304" pitchFamily="18" charset="0"/>
              </a:rPr>
              <a:t>unhappiness</a:t>
            </a: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 → </a:t>
            </a:r>
            <a:r>
              <a:rPr lang="en-IN" sz="2000" i="1">
                <a:solidFill>
                  <a:schemeClr val="dk1"/>
                </a:solidFill>
                <a:latin typeface="Amasis MT Pro" panose="02040504050005020304" pitchFamily="18" charset="0"/>
              </a:rPr>
              <a:t>un + happy + ness</a:t>
            </a:r>
            <a:endParaRPr sz="2000" i="1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Root/Stem</a:t>
            </a: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: Core part of a word</a:t>
            </a: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Prefix</a:t>
            </a: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: Added before the root (un-, re-)</a:t>
            </a: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Suffix</a:t>
            </a: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: Added after the root (-ed, -ing, -s)</a:t>
            </a: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 What is Morphological Parsing?</a:t>
            </a:r>
            <a:endParaRPr sz="2000" b="1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Morphological parsing is the process of:</a:t>
            </a: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Breaking a word into morphemes</a:t>
            </a: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Identifying grammatical features such as </a:t>
            </a: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tense, number, gender, or case</a:t>
            </a:r>
            <a:endParaRPr sz="2000" b="1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ca3ec996a_0_8"/>
          <p:cNvSpPr txBox="1">
            <a:spLocks noGrp="1"/>
          </p:cNvSpPr>
          <p:nvPr>
            <p:ph type="title"/>
          </p:nvPr>
        </p:nvSpPr>
        <p:spPr>
          <a:xfrm>
            <a:off x="335360" y="32186"/>
            <a:ext cx="10981200" cy="10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IN" sz="4000">
                <a:latin typeface="Amasis MT Pro" panose="02040504050005020304" pitchFamily="18" charset="0"/>
                <a:ea typeface="Arial"/>
                <a:cs typeface="Arial"/>
                <a:sym typeface="Arial"/>
              </a:rPr>
              <a:t>Finite State Automata (FSA)</a:t>
            </a:r>
            <a:endParaRPr sz="4000">
              <a:latin typeface="Amasis MT Pro" panose="0204050405000502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bca3ec996a_0_8"/>
          <p:cNvSpPr txBox="1"/>
          <p:nvPr/>
        </p:nvSpPr>
        <p:spPr>
          <a:xfrm>
            <a:off x="549132" y="1102171"/>
            <a:ext cx="10622700" cy="170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A </a:t>
            </a: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Finite State Automaton</a:t>
            </a: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 is a formal model used to recognize strings belonging to a </a:t>
            </a:r>
            <a:r>
              <a:rPr lang="en-IN" sz="2000" b="1">
                <a:solidFill>
                  <a:schemeClr val="dk1"/>
                </a:solidFill>
                <a:latin typeface="Amasis MT Pro" panose="02040504050005020304" pitchFamily="18" charset="0"/>
              </a:rPr>
              <a:t>regular language</a:t>
            </a:r>
            <a:r>
              <a:rPr lang="en-IN" sz="2000">
                <a:solidFill>
                  <a:schemeClr val="dk1"/>
                </a:solidFill>
                <a:latin typeface="Amasis MT Pro" panose="02040504050005020304" pitchFamily="18" charset="0"/>
              </a:rPr>
              <a:t>.</a:t>
            </a:r>
            <a:endParaRPr sz="2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>
              <a:solidFill>
                <a:schemeClr val="dk1"/>
              </a:solidFill>
              <a:latin typeface="Amasis MT Pro" panose="02040504050005020304" pitchFamily="18" charset="0"/>
            </a:endParaRPr>
          </a:p>
        </p:txBody>
      </p:sp>
      <p:pic>
        <p:nvPicPr>
          <p:cNvPr id="114" name="Google Shape;114;g3bca3ec996a_0_8" title="Screenshot 2026-02-02 at 10.55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42" y="2095771"/>
            <a:ext cx="10186515" cy="4609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ca3ec996a_0_30"/>
          <p:cNvSpPr txBox="1">
            <a:spLocks noGrp="1"/>
          </p:cNvSpPr>
          <p:nvPr>
            <p:ph type="title"/>
          </p:nvPr>
        </p:nvSpPr>
        <p:spPr>
          <a:xfrm>
            <a:off x="335360" y="32186"/>
            <a:ext cx="10981200" cy="10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IN" sz="4000">
                <a:latin typeface="Amasis MT Pro" panose="02040504050005020304" pitchFamily="18" charset="0"/>
                <a:ea typeface="Arial"/>
                <a:cs typeface="Arial"/>
                <a:sym typeface="Arial"/>
              </a:rPr>
              <a:t> Deterministic vs Non-Deterministic FSA</a:t>
            </a:r>
            <a:endParaRPr sz="4000">
              <a:latin typeface="Amasis MT Pro" panose="0204050405000502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bca3ec996a_0_30"/>
          <p:cNvSpPr txBox="1"/>
          <p:nvPr/>
        </p:nvSpPr>
        <p:spPr>
          <a:xfrm>
            <a:off x="549132" y="1102171"/>
            <a:ext cx="10622700" cy="345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chemeClr val="dk1"/>
                </a:solidFill>
                <a:latin typeface="Amasis MT Pro" panose="02040504050005020304" pitchFamily="18" charset="0"/>
              </a:rPr>
              <a:t>Deterministic FSA (DFA)</a:t>
            </a:r>
            <a:r>
              <a:rPr lang="en-IN" sz="3000">
                <a:solidFill>
                  <a:schemeClr val="dk1"/>
                </a:solidFill>
                <a:latin typeface="Amasis MT Pro" panose="02040504050005020304" pitchFamily="18" charset="0"/>
              </a:rPr>
              <a:t>: One transition per input symbol</a:t>
            </a:r>
            <a:endParaRPr sz="3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 b="1">
                <a:solidFill>
                  <a:schemeClr val="dk1"/>
                </a:solidFill>
                <a:latin typeface="Amasis MT Pro" panose="02040504050005020304" pitchFamily="18" charset="0"/>
              </a:rPr>
              <a:t>Non-Deterministic FSA (NFA)</a:t>
            </a:r>
            <a:r>
              <a:rPr lang="en-IN" sz="3000">
                <a:solidFill>
                  <a:schemeClr val="dk1"/>
                </a:solidFill>
                <a:latin typeface="Amasis MT Pro" panose="02040504050005020304" pitchFamily="18" charset="0"/>
              </a:rPr>
              <a:t>:</a:t>
            </a:r>
            <a:endParaRPr sz="3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  <a:latin typeface="Amasis MT Pro" panose="02040504050005020304" pitchFamily="18" charset="0"/>
              </a:rPr>
              <a:t>Multiple transitions for same input</a:t>
            </a:r>
            <a:endParaRPr sz="3000">
              <a:solidFill>
                <a:schemeClr val="dk1"/>
              </a:solidFill>
              <a:latin typeface="Amasis MT Pro" panose="02040504050005020304" pitchFamily="18" charset="0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  <a:latin typeface="Amasis MT Pro" panose="02040504050005020304" pitchFamily="18" charset="0"/>
              </a:rPr>
              <a:t>ε (epsilon) transitions allowed</a:t>
            </a:r>
            <a:endParaRPr sz="3000">
              <a:solidFill>
                <a:schemeClr val="dk1"/>
              </a:solidFill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ca3ec996a_0_18"/>
          <p:cNvSpPr txBox="1">
            <a:spLocks noGrp="1"/>
          </p:cNvSpPr>
          <p:nvPr>
            <p:ph type="title"/>
          </p:nvPr>
        </p:nvSpPr>
        <p:spPr>
          <a:xfrm>
            <a:off x="335360" y="32186"/>
            <a:ext cx="10981200" cy="10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IN" sz="4000">
                <a:latin typeface="Amasis MT Pro" panose="02040504050005020304" pitchFamily="18" charset="0"/>
                <a:ea typeface="Arial"/>
                <a:cs typeface="Arial"/>
                <a:sym typeface="Arial"/>
              </a:rPr>
              <a:t>Example: Simple English Verb FSA</a:t>
            </a:r>
            <a:endParaRPr sz="4000">
              <a:latin typeface="Amasis MT Pro" panose="0204050405000502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bca3ec996a_0_18"/>
          <p:cNvSpPr txBox="1"/>
          <p:nvPr/>
        </p:nvSpPr>
        <p:spPr>
          <a:xfrm>
            <a:off x="549132" y="1102171"/>
            <a:ext cx="10622700" cy="45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latin typeface="Amasis MT Pro" panose="02040504050005020304" pitchFamily="18" charset="0"/>
              </a:rPr>
              <a:t>Words Covered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masis MT Pro" panose="02040504050005020304" pitchFamily="18" charset="0"/>
              </a:rPr>
              <a:t>play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masis MT Pro" panose="02040504050005020304" pitchFamily="18" charset="0"/>
              </a:rPr>
              <a:t>plays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masis MT Pro" panose="02040504050005020304" pitchFamily="18" charset="0"/>
              </a:rPr>
              <a:t>played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masis MT Pro" panose="02040504050005020304" pitchFamily="18" charset="0"/>
              </a:rPr>
              <a:t>playing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endParaRPr sz="220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latin typeface="Amasis MT Pro" panose="02040504050005020304" pitchFamily="18" charset="0"/>
              </a:rPr>
              <a:t>States Explanation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masis MT Pro" panose="02040504050005020304" pitchFamily="18" charset="0"/>
              </a:rPr>
              <a:t>q0 – start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masis MT Pro" panose="02040504050005020304" pitchFamily="18" charset="0"/>
              </a:rPr>
              <a:t>q1 – after root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masis MT Pro" panose="02040504050005020304" pitchFamily="18" charset="0"/>
              </a:rPr>
              <a:t>q2 – plural/3rd person (s)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masis MT Pro" panose="02040504050005020304" pitchFamily="18" charset="0"/>
              </a:rPr>
              <a:t>q3 – past tense (ed)</a:t>
            </a:r>
            <a:endParaRPr sz="2200">
              <a:latin typeface="Amasis MT Pro" panose="02040504050005020304" pitchFamily="18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masis MT Pro" panose="02040504050005020304" pitchFamily="18" charset="0"/>
              </a:rPr>
              <a:t>q4 – continuous (ing)</a:t>
            </a:r>
            <a:endParaRPr sz="220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Amasis MT Pro" panose="02040504050005020304" pitchFamily="18" charset="0"/>
            </a:endParaRPr>
          </a:p>
        </p:txBody>
      </p:sp>
      <p:sp>
        <p:nvSpPr>
          <p:cNvPr id="128" name="Google Shape;128;g3bca3ec996a_0_18"/>
          <p:cNvSpPr txBox="1"/>
          <p:nvPr/>
        </p:nvSpPr>
        <p:spPr>
          <a:xfrm>
            <a:off x="5921225" y="1375050"/>
            <a:ext cx="6315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masis MT Pro" panose="02040504050005020304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3bca3ec996a_0_18" title="Screenshot 2026-02-02 at 11.02.5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575" y="1181099"/>
            <a:ext cx="8039425" cy="3027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bca3ec996a_0_18"/>
          <p:cNvSpPr txBox="1"/>
          <p:nvPr/>
        </p:nvSpPr>
        <p:spPr>
          <a:xfrm>
            <a:off x="6282275" y="4208500"/>
            <a:ext cx="5592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Amasis MT Pro" panose="02040504050005020304" pitchFamily="18" charset="0"/>
                <a:ea typeface="Calibri"/>
                <a:cs typeface="Calibri"/>
                <a:sym typeface="Calibri"/>
              </a:rPr>
              <a:t>State Transition Table </a:t>
            </a:r>
            <a:endParaRPr sz="2200">
              <a:solidFill>
                <a:schemeClr val="dk1"/>
              </a:solidFill>
              <a:latin typeface="Amasis MT Pro" panose="02040504050005020304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335359" y="111877"/>
            <a:ext cx="10981220" cy="947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6000"/>
              <a:buNone/>
            </a:pPr>
            <a:r>
              <a:rPr lang="en-IN" sz="4600" dirty="0">
                <a:latin typeface="Amasis MT Pro" panose="02040504050005020304" pitchFamily="18" charset="0"/>
                <a:ea typeface="Arial"/>
                <a:cs typeface="Arial"/>
                <a:sym typeface="Arial"/>
              </a:rPr>
              <a:t>Assignment- 1</a:t>
            </a:r>
            <a:endParaRPr sz="4600" dirty="0">
              <a:latin typeface="Amasis MT Pro" panose="0204050405000502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489358" y="2355311"/>
            <a:ext cx="113979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Q1. Write a program using Finite State Automata (FSA) to recognize singular and plural noun forms such as: cat, cats, dog, dogs, fox, foxes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Q2. Implement an FSA-based program to recognize verb inflections: walk, walks, walking, walked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Q3. Extend the verb FSA program to also accept: jump, jumps, jumping, jumped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Q4. Using the implemented FSA, check whether the following words are ACCEPTED or REJECTED: cats, foxes, </a:t>
            </a:r>
            <a:r>
              <a:rPr lang="en-IN" sz="2200" dirty="0" err="1">
                <a:latin typeface="Amasis MT Pro" panose="02040504050005020304" pitchFamily="18" charset="0"/>
              </a:rPr>
              <a:t>foxs</a:t>
            </a:r>
            <a:r>
              <a:rPr lang="en-IN" sz="2200" dirty="0">
                <a:latin typeface="Amasis MT Pro" panose="02040504050005020304" pitchFamily="18" charset="0"/>
              </a:rPr>
              <a:t>, walking, </a:t>
            </a:r>
            <a:r>
              <a:rPr lang="en-IN" sz="2200" dirty="0" err="1">
                <a:latin typeface="Amasis MT Pro" panose="02040504050005020304" pitchFamily="18" charset="0"/>
              </a:rPr>
              <a:t>walkes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Q5. Write a program that outputs the stem and suffix for every accepted word.</a:t>
            </a:r>
            <a:endParaRPr sz="2200" dirty="0">
              <a:latin typeface="Amasis MT Pro" panose="020405040500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3EE30-DEE0-551C-D35B-3B4D5A0AD126}"/>
              </a:ext>
            </a:extLst>
          </p:cNvPr>
          <p:cNvSpPr txBox="1"/>
          <p:nvPr/>
        </p:nvSpPr>
        <p:spPr>
          <a:xfrm>
            <a:off x="2342104" y="1507067"/>
            <a:ext cx="7167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Using </a:t>
            </a:r>
            <a:r>
              <a:rPr lang="en-IN" sz="2000" b="1" dirty="0" err="1">
                <a:solidFill>
                  <a:srgbClr val="FF0000"/>
                </a:solidFill>
                <a:latin typeface="Amasis MT Pro" panose="02040504050005020304" pitchFamily="18" charset="0"/>
              </a:rPr>
              <a:t>openfst</a:t>
            </a:r>
            <a:r>
              <a:rPr lang="en-IN" sz="2000" b="1" dirty="0">
                <a:solidFill>
                  <a:srgbClr val="FF0000"/>
                </a:solidFill>
                <a:latin typeface="Amasis MT Pro" panose="02040504050005020304" pitchFamily="18" charset="0"/>
              </a:rPr>
              <a:t>-python library</a:t>
            </a:r>
            <a:r>
              <a:rPr lang="en-IN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, implement the following: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ca3ec996a_0_42"/>
          <p:cNvSpPr txBox="1">
            <a:spLocks noGrp="1"/>
          </p:cNvSpPr>
          <p:nvPr>
            <p:ph type="title"/>
          </p:nvPr>
        </p:nvSpPr>
        <p:spPr>
          <a:xfrm>
            <a:off x="335359" y="111877"/>
            <a:ext cx="10981200" cy="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6000"/>
              <a:buNone/>
            </a:pPr>
            <a:r>
              <a:rPr lang="en-IN" sz="4600">
                <a:latin typeface="Amasis MT Pro" panose="02040504050005020304" pitchFamily="18" charset="0"/>
                <a:ea typeface="Arial"/>
                <a:cs typeface="Arial"/>
                <a:sym typeface="Arial"/>
              </a:rPr>
              <a:t>Assignment- 1</a:t>
            </a:r>
            <a:endParaRPr sz="4600">
              <a:latin typeface="Amasis MT Pro" panose="020405040500050203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bca3ec996a_0_42"/>
          <p:cNvSpPr txBox="1"/>
          <p:nvPr/>
        </p:nvSpPr>
        <p:spPr>
          <a:xfrm>
            <a:off x="498502" y="2192470"/>
            <a:ext cx="11397900" cy="483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Q6.Create a program that takes a word as user input and validates whether it is a morphologically valid noun or verb using FSA logic.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Q7.Write a single program that combines noun and verb FSA and classifies the input word accordingly.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Q8.Display the results of morphological parsing in the format: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word → stem + suffix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Q9.Modify the program to handle multiple input words and print the result for each.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2200" dirty="0">
                <a:latin typeface="Amasis MT Pro" panose="02040504050005020304" pitchFamily="18" charset="0"/>
              </a:rPr>
              <a:t>Q10.Write an FSA-based program to reject invalid morphological forms such </a:t>
            </a:r>
            <a:r>
              <a:rPr lang="en-IN" sz="2200" dirty="0" err="1">
                <a:latin typeface="Amasis MT Pro" panose="02040504050005020304" pitchFamily="18" charset="0"/>
              </a:rPr>
              <a:t>as:foxs</a:t>
            </a:r>
            <a:r>
              <a:rPr lang="en-IN" sz="2200" dirty="0">
                <a:latin typeface="Amasis MT Pro" panose="02040504050005020304" pitchFamily="18" charset="0"/>
              </a:rPr>
              <a:t>, </a:t>
            </a:r>
            <a:r>
              <a:rPr lang="en-IN" sz="2200" dirty="0" err="1">
                <a:latin typeface="Amasis MT Pro" panose="02040504050005020304" pitchFamily="18" charset="0"/>
              </a:rPr>
              <a:t>walkes</a:t>
            </a:r>
            <a:r>
              <a:rPr lang="en-IN" sz="2200" dirty="0">
                <a:latin typeface="Amasis MT Pro" panose="02040504050005020304" pitchFamily="18" charset="0"/>
              </a:rPr>
              <a:t>, </a:t>
            </a:r>
            <a:r>
              <a:rPr lang="en-IN" sz="2200" dirty="0" err="1">
                <a:latin typeface="Amasis MT Pro" panose="02040504050005020304" pitchFamily="18" charset="0"/>
              </a:rPr>
              <a:t>jumpings</a:t>
            </a:r>
            <a:endParaRPr sz="22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 dirty="0">
              <a:latin typeface="Amasis MT Pro" panose="020405040500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7D527-7C74-3613-74E5-6752C2A80017}"/>
              </a:ext>
            </a:extLst>
          </p:cNvPr>
          <p:cNvSpPr txBox="1"/>
          <p:nvPr/>
        </p:nvSpPr>
        <p:spPr>
          <a:xfrm>
            <a:off x="2342104" y="1507067"/>
            <a:ext cx="7167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Using </a:t>
            </a:r>
            <a:r>
              <a:rPr lang="en-IN" sz="2000" b="1" dirty="0" err="1">
                <a:solidFill>
                  <a:srgbClr val="FF0000"/>
                </a:solidFill>
                <a:latin typeface="Amasis MT Pro" panose="02040504050005020304" pitchFamily="18" charset="0"/>
              </a:rPr>
              <a:t>openfst</a:t>
            </a:r>
            <a:r>
              <a:rPr lang="en-IN" sz="2000" b="1" dirty="0">
                <a:solidFill>
                  <a:srgbClr val="FF0000"/>
                </a:solidFill>
                <a:latin typeface="Amasis MT Pro" panose="02040504050005020304" pitchFamily="18" charset="0"/>
              </a:rPr>
              <a:t>-python library</a:t>
            </a:r>
            <a:r>
              <a:rPr lang="en-IN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, implement the following: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>
            <a:spLocks noGrp="1"/>
          </p:cNvSpPr>
          <p:nvPr>
            <p:ph type="title"/>
          </p:nvPr>
        </p:nvSpPr>
        <p:spPr>
          <a:xfrm>
            <a:off x="1189931" y="2727742"/>
            <a:ext cx="9288900" cy="10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IN" sz="6000">
                <a:latin typeface="Arial"/>
                <a:ea typeface="Arial"/>
                <a:cs typeface="Arial"/>
                <a:sym typeface="Arial"/>
              </a:rPr>
              <a:t>Thank you !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556</Words>
  <Application>Microsoft Office PowerPoint</Application>
  <PresentationFormat>Widescreen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Amasis MT Pro</vt:lpstr>
      <vt:lpstr>Arial</vt:lpstr>
      <vt:lpstr>Calibri</vt:lpstr>
      <vt:lpstr>Office Theme</vt:lpstr>
      <vt:lpstr>PowerPoint Presentation</vt:lpstr>
      <vt:lpstr>Objectives </vt:lpstr>
      <vt:lpstr>Introduction to Morphology</vt:lpstr>
      <vt:lpstr>Finite State Automata (FSA)</vt:lpstr>
      <vt:lpstr> Deterministic vs Non-Deterministic FSA</vt:lpstr>
      <vt:lpstr>Example: Simple English Verb FSA</vt:lpstr>
      <vt:lpstr>Assignment- 1</vt:lpstr>
      <vt:lpstr>Assignment- 1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Sunil Kumar</cp:lastModifiedBy>
  <cp:revision>2</cp:revision>
  <dcterms:modified xsi:type="dcterms:W3CDTF">2026-02-03T03:51:38Z</dcterms:modified>
</cp:coreProperties>
</file>